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Open Sans Medium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LKvC5LF2Qi3K/tuoJYEZxS0UP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BAD091-134E-45A1-8E60-73AEFD6A479E}">
  <a:tblStyle styleId="{A2BAD091-134E-45A1-8E60-73AEFD6A47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penSansMedium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Medium-italic.fntdata"/><Relationship Id="rId23" Type="http://schemas.openxmlformats.org/officeDocument/2006/relationships/font" Target="fonts/OpenSans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OpenSansMedium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6906cb3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g3f6906cb3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e999c0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fae999c0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f88532c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9f88532c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09bec20c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09bec20c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ae999c044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ae999c044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ae999c044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ae999c044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ae999c044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ae999c044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ae999c044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ae999c044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e999c044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ae999c044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409bec20cf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409bec20cf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ae999c044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ae999c044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ae999c044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ae999c044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9f88532cb_4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f9f88532cb_4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ae999c044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fae999c044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ae999c044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fae999c044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ae999c044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fae999c044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g3f6656da416_0_83" title="主標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75" y="263669"/>
            <a:ext cx="1583524" cy="455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g3f6656da416_0_83" title="LOGO_Sea x OpenAI-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7802" y="183611"/>
            <a:ext cx="1872150" cy="52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g3f6656da416_0_83" title="LOGO_Sea x OpenAI-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7802" y="183611"/>
            <a:ext cx="1872150" cy="520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g3f70d3cc34d_0_10" title="主標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75" y="263669"/>
            <a:ext cx="1583524" cy="455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f70d3cc34d_0_10" title="LOGO_Sea x OpenAI-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7802" y="183611"/>
            <a:ext cx="1872150" cy="520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g3f6656da416_0_80" title="主標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75" y="263669"/>
            <a:ext cx="1583524" cy="455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f6656da416_0_80" title="LOGO_Sea x OpenAI-2.png"/>
          <p:cNvPicPr preferRelativeResize="0"/>
          <p:nvPr/>
        </p:nvPicPr>
        <p:blipFill rotWithShape="1">
          <a:blip r:embed="rId4">
            <a:alphaModFix/>
          </a:blip>
          <a:srcRect b="0" l="845" r="845" t="0"/>
          <a:stretch/>
        </p:blipFill>
        <p:spPr>
          <a:xfrm>
            <a:off x="7159888" y="247082"/>
            <a:ext cx="1734524" cy="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g3f6656da416_0_78" title="群組 8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3113" y="1813356"/>
            <a:ext cx="505777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g3f6c7b07333_1_18" title="主標-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75" y="116183"/>
            <a:ext cx="1519250" cy="648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g3f6c7b07333_1_18" title="LOGO_Sea x OpenAI-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0885" y="236313"/>
            <a:ext cx="1886975" cy="5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g3f6b187cacf_0_9" title="主標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75" y="263669"/>
            <a:ext cx="1583524" cy="455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g3f6b187cacf_0_9" title="SeaXOpenAI 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9888" y="247082"/>
            <a:ext cx="1734524" cy="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1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g3f6b187cacf_0_15" title="主標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975" y="263669"/>
            <a:ext cx="1583524" cy="455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g3f6b187cacf_0_15" title="SeaXOpenAI 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9888" y="247082"/>
            <a:ext cx="1734524" cy="3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2">
  <p:cSld name="SECTION_HEADER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g3fae999c044_0_126" title="主標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75" y="263669"/>
            <a:ext cx="1583524" cy="45548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3fae999c044_0_1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g3fae999c044_0_126" title="蝦皮+黑客松.png"/>
          <p:cNvPicPr preferRelativeResize="0"/>
          <p:nvPr/>
        </p:nvPicPr>
        <p:blipFill rotWithShape="1">
          <a:blip r:embed="rId4">
            <a:alphaModFix/>
          </a:blip>
          <a:srcRect b="8333" l="0" r="0" t="8333"/>
          <a:stretch/>
        </p:blipFill>
        <p:spPr>
          <a:xfrm>
            <a:off x="6756383" y="185823"/>
            <a:ext cx="2221000" cy="6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3">
          <p15:clr>
            <a:srgbClr val="E46962"/>
          </p15:clr>
        </p15:guide>
        <p15:guide id="2" orient="horz" pos="166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 1">
  <p:cSld name="SECTION_HEADER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g3fae999c044_0_989" title="主標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75" y="263669"/>
            <a:ext cx="1583524" cy="45548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fae999c044_0_9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" name="Google Shape;38;g3fae999c044_0_989" title="蝦皮+黑客松.png"/>
          <p:cNvPicPr preferRelativeResize="0"/>
          <p:nvPr/>
        </p:nvPicPr>
        <p:blipFill rotWithShape="1">
          <a:blip r:embed="rId4">
            <a:alphaModFix/>
          </a:blip>
          <a:srcRect b="8333" l="0" r="0" t="8333"/>
          <a:stretch/>
        </p:blipFill>
        <p:spPr>
          <a:xfrm>
            <a:off x="6756383" y="185823"/>
            <a:ext cx="2221000" cy="6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6656da416_0_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f6656da416_0_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f6656da416_0_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platform.openai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Relationship Id="rId4" Type="http://schemas.openxmlformats.org/officeDocument/2006/relationships/image" Target="../media/image25.jp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g3f6906cb3b2_0_0"/>
          <p:cNvGrpSpPr/>
          <p:nvPr/>
        </p:nvGrpSpPr>
        <p:grpSpPr>
          <a:xfrm>
            <a:off x="2546325" y="483309"/>
            <a:ext cx="4051350" cy="3753463"/>
            <a:chOff x="2546325" y="328083"/>
            <a:chExt cx="4051350" cy="3753463"/>
          </a:xfrm>
        </p:grpSpPr>
        <p:grpSp>
          <p:nvGrpSpPr>
            <p:cNvPr id="44" name="Google Shape;44;g3f6906cb3b2_0_0"/>
            <p:cNvGrpSpPr/>
            <p:nvPr/>
          </p:nvGrpSpPr>
          <p:grpSpPr>
            <a:xfrm>
              <a:off x="2546325" y="328083"/>
              <a:ext cx="4051350" cy="3065713"/>
              <a:chOff x="2321250" y="364350"/>
              <a:chExt cx="4501500" cy="3407484"/>
            </a:xfrm>
          </p:grpSpPr>
          <p:sp>
            <p:nvSpPr>
              <p:cNvPr id="45" name="Google Shape;45;g3f6906cb3b2_0_0"/>
              <p:cNvSpPr txBox="1"/>
              <p:nvPr/>
            </p:nvSpPr>
            <p:spPr>
              <a:xfrm>
                <a:off x="2321250" y="364350"/>
                <a:ext cx="4501500" cy="3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3075" lIns="63075" spcFirstLastPara="1" rIns="63075" wrap="square" tIns="63075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918"/>
                  </a:spcBef>
                  <a:spcAft>
                    <a:spcPts val="918"/>
                  </a:spcAft>
                  <a:buClr>
                    <a:schemeClr val="dk1"/>
                  </a:buClr>
                  <a:buSzPts val="841"/>
                  <a:buFont typeface="Arial"/>
                  <a:buNone/>
                </a:pPr>
                <a:r>
                  <a:rPr b="0" i="0" lang="en" sz="2115" u="none" cap="none" strike="noStrik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蝦皮購物母公司 Sea x OpenAI</a:t>
                </a:r>
                <a:endParaRPr b="0" i="0" sz="2115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6" name="Google Shape;46;g3f6906cb3b2_0_0"/>
              <p:cNvSpPr txBox="1"/>
              <p:nvPr/>
            </p:nvSpPr>
            <p:spPr>
              <a:xfrm>
                <a:off x="2393700" y="830461"/>
                <a:ext cx="4356600" cy="53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3000" lIns="53000" spcFirstLastPara="1" rIns="53000" wrap="square" tIns="53000">
                <a:no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695"/>
                  </a:spcBef>
                  <a:spcAft>
                    <a:spcPts val="695"/>
                  </a:spcAft>
                  <a:buClr>
                    <a:schemeClr val="dk1"/>
                  </a:buClr>
                  <a:buSzPts val="637"/>
                  <a:buFont typeface="Arial"/>
                  <a:buNone/>
                </a:pPr>
                <a:r>
                  <a:rPr b="1" i="0" lang="en" sz="3172" u="none" cap="none" strike="noStrik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黑客松亞太區系列賽</a:t>
                </a:r>
                <a:endParaRPr b="1" i="0" sz="3172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pic>
            <p:nvPicPr>
              <p:cNvPr id="47" name="Google Shape;47;g3f6906cb3b2_0_0" title="LOGO_Sea x OpenAI.png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222083" y="1730580"/>
                <a:ext cx="2941717" cy="555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" name="Google Shape;48;g3f6906cb3b2_0_0" title="主標.png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572245" y="2621740"/>
                <a:ext cx="3999638" cy="11500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" name="Google Shape;49;g3f6906cb3b2_0_0"/>
            <p:cNvGrpSpPr/>
            <p:nvPr/>
          </p:nvGrpSpPr>
          <p:grpSpPr>
            <a:xfrm>
              <a:off x="3660930" y="3748696"/>
              <a:ext cx="1822230" cy="332850"/>
              <a:chOff x="3559650" y="3925020"/>
              <a:chExt cx="2024700" cy="369300"/>
            </a:xfrm>
          </p:grpSpPr>
          <p:sp>
            <p:nvSpPr>
              <p:cNvPr id="50" name="Google Shape;50;g3f6906cb3b2_0_0"/>
              <p:cNvSpPr/>
              <p:nvPr/>
            </p:nvSpPr>
            <p:spPr>
              <a:xfrm>
                <a:off x="3674128" y="3925020"/>
                <a:ext cx="1763100" cy="3693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0575" lIns="70575" spcFirstLastPara="1" rIns="70575" wrap="square" tIns="705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81"/>
                  <a:buFont typeface="Arial"/>
                  <a:buNone/>
                </a:pPr>
                <a:r>
                  <a:t/>
                </a:r>
                <a:endParaRPr b="0" i="0" sz="108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g3f6906cb3b2_0_0"/>
              <p:cNvSpPr txBox="1"/>
              <p:nvPr/>
            </p:nvSpPr>
            <p:spPr>
              <a:xfrm>
                <a:off x="3559650" y="3938216"/>
                <a:ext cx="20247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0575" lIns="70575" spcFirstLastPara="1" rIns="70575" wrap="square" tIns="705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81"/>
                  <a:buFont typeface="Arial"/>
                  <a:buNone/>
                </a:pPr>
                <a:r>
                  <a:rPr lang="en" sz="1081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12</a:t>
                </a:r>
                <a:r>
                  <a:rPr b="0" i="0" lang="en" sz="1081" u="none" cap="none" strike="noStrike">
                    <a:solidFill>
                      <a:schemeClr val="lt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September 2026</a:t>
                </a:r>
                <a:endParaRPr b="0" i="0" sz="1081" u="none" cap="none" strike="noStrik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e999c044_0_0"/>
          <p:cNvSpPr/>
          <p:nvPr/>
        </p:nvSpPr>
        <p:spPr>
          <a:xfrm>
            <a:off x="765011" y="1360325"/>
            <a:ext cx="7994700" cy="3462900"/>
          </a:xfrm>
          <a:prstGeom prst="roundRect">
            <a:avLst>
              <a:gd fmla="val 3226" name="adj"/>
            </a:avLst>
          </a:prstGeom>
          <a:solidFill>
            <a:srgbClr val="000000"/>
          </a:solidFill>
          <a:ln cap="flat" cmpd="sng" w="19050">
            <a:solidFill>
              <a:srgbClr val="1E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ae999c044_0_0"/>
          <p:cNvSpPr/>
          <p:nvPr/>
        </p:nvSpPr>
        <p:spPr>
          <a:xfrm>
            <a:off x="1809000" y="782639"/>
            <a:ext cx="5526000" cy="512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ae999c044_0_0"/>
          <p:cNvSpPr txBox="1"/>
          <p:nvPr/>
        </p:nvSpPr>
        <p:spPr>
          <a:xfrm>
            <a:off x="1809000" y="733654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座位安排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g3fae999c044_0_0"/>
          <p:cNvSpPr/>
          <p:nvPr/>
        </p:nvSpPr>
        <p:spPr>
          <a:xfrm>
            <a:off x="3382093" y="1462567"/>
            <a:ext cx="2328900" cy="319500"/>
          </a:xfrm>
          <a:prstGeom prst="roundRect">
            <a:avLst>
              <a:gd fmla="val 50000" name="adj"/>
            </a:avLst>
          </a:prstGeom>
          <a:solidFill>
            <a:srgbClr val="091422"/>
          </a:solidFill>
          <a:ln cap="flat" cmpd="sng" w="16825">
            <a:solidFill>
              <a:srgbClr val="1A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00" lIns="80800" spcFirstLastPara="1" rIns="80800" wrap="square" tIns="8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60" name="Google Shape;60;g3fae999c044_0_0"/>
          <p:cNvSpPr/>
          <p:nvPr/>
        </p:nvSpPr>
        <p:spPr>
          <a:xfrm>
            <a:off x="979525" y="4542800"/>
            <a:ext cx="990300" cy="267000"/>
          </a:xfrm>
          <a:prstGeom prst="roundRect">
            <a:avLst>
              <a:gd fmla="val 30769" name="adj"/>
            </a:avLst>
          </a:prstGeom>
          <a:solidFill>
            <a:srgbClr val="165016">
              <a:alpha val="35440"/>
            </a:srgbClr>
          </a:solidFill>
          <a:ln cap="flat" cmpd="sng" w="11600">
            <a:solidFill>
              <a:srgbClr val="165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C55E"/>
                </a:solidFill>
                <a:latin typeface="Open Sans"/>
                <a:ea typeface="Open Sans"/>
                <a:cs typeface="Open Sans"/>
                <a:sym typeface="Open Sans"/>
              </a:rPr>
              <a:t>出口</a:t>
            </a:r>
            <a:endParaRPr>
              <a:solidFill>
                <a:srgbClr val="22C55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" name="Google Shape;61;g3fae999c044_0_0"/>
          <p:cNvSpPr/>
          <p:nvPr/>
        </p:nvSpPr>
        <p:spPr>
          <a:xfrm>
            <a:off x="4190847" y="1977973"/>
            <a:ext cx="1297200" cy="387900"/>
          </a:xfrm>
          <a:prstGeom prst="roundRect">
            <a:avLst>
              <a:gd fmla="val 17241" name="adj"/>
            </a:avLst>
          </a:prstGeom>
          <a:solidFill>
            <a:srgbClr val="0B1422"/>
          </a:solidFill>
          <a:ln cap="flat" cmpd="sng" w="224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00" lIns="80800" spcFirstLastPara="1" rIns="80800" wrap="square" tIns="8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62" name="Google Shape;62;g3fae999c044_0_0"/>
          <p:cNvSpPr/>
          <p:nvPr/>
        </p:nvSpPr>
        <p:spPr>
          <a:xfrm>
            <a:off x="7862450" y="1995197"/>
            <a:ext cx="21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00" lIns="83425" spcFirstLastPara="1" rIns="83425" wrap="square" tIns="41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730"/>
              <a:buFont typeface="Arial"/>
              <a:buNone/>
            </a:pPr>
            <a:r>
              <a:t/>
            </a:r>
            <a:endParaRPr i="0" sz="1004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g3fae999c044_0_0"/>
          <p:cNvSpPr/>
          <p:nvPr/>
        </p:nvSpPr>
        <p:spPr>
          <a:xfrm>
            <a:off x="4406405" y="1936349"/>
            <a:ext cx="8661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14"/>
              <a:buFont typeface="Arial Black"/>
              <a:buNone/>
            </a:pPr>
            <a:r>
              <a:rPr b="1" lang="en" sz="97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貴賓/評審</a:t>
            </a:r>
            <a:endParaRPr i="0" sz="972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g3fae999c044_0_0"/>
          <p:cNvSpPr/>
          <p:nvPr/>
        </p:nvSpPr>
        <p:spPr>
          <a:xfrm>
            <a:off x="1180504" y="2010818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/>
          </a:p>
        </p:txBody>
      </p:sp>
      <p:sp>
        <p:nvSpPr>
          <p:cNvPr id="65" name="Google Shape;65;g3fae999c044_0_0"/>
          <p:cNvSpPr/>
          <p:nvPr/>
        </p:nvSpPr>
        <p:spPr>
          <a:xfrm>
            <a:off x="1325777" y="2497611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ae999c044_0_0"/>
          <p:cNvSpPr/>
          <p:nvPr/>
        </p:nvSpPr>
        <p:spPr>
          <a:xfrm>
            <a:off x="1325777" y="2994530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ae999c044_0_0"/>
          <p:cNvSpPr/>
          <p:nvPr/>
        </p:nvSpPr>
        <p:spPr>
          <a:xfrm>
            <a:off x="1325777" y="3491448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ae999c044_0_0"/>
          <p:cNvSpPr/>
          <p:nvPr/>
        </p:nvSpPr>
        <p:spPr>
          <a:xfrm>
            <a:off x="1108805" y="1967052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i="0" lang="en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g3fae999c044_0_0"/>
          <p:cNvSpPr/>
          <p:nvPr/>
        </p:nvSpPr>
        <p:spPr>
          <a:xfrm>
            <a:off x="1259214" y="2453148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i="0" lang="en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g3fae999c044_0_0"/>
          <p:cNvSpPr/>
          <p:nvPr/>
        </p:nvSpPr>
        <p:spPr>
          <a:xfrm>
            <a:off x="1259214" y="2954159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i="0" lang="en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g3fae999c044_0_0"/>
          <p:cNvSpPr/>
          <p:nvPr/>
        </p:nvSpPr>
        <p:spPr>
          <a:xfrm>
            <a:off x="1259214" y="3455170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i="0" lang="en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g3fae999c044_0_0"/>
          <p:cNvSpPr/>
          <p:nvPr/>
        </p:nvSpPr>
        <p:spPr>
          <a:xfrm>
            <a:off x="2041584" y="2016580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ae999c044_0_0"/>
          <p:cNvSpPr/>
          <p:nvPr/>
        </p:nvSpPr>
        <p:spPr>
          <a:xfrm>
            <a:off x="2231704" y="2513498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ae999c044_0_0"/>
          <p:cNvSpPr/>
          <p:nvPr/>
        </p:nvSpPr>
        <p:spPr>
          <a:xfrm>
            <a:off x="2231704" y="3010417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fae999c044_0_0"/>
          <p:cNvSpPr/>
          <p:nvPr/>
        </p:nvSpPr>
        <p:spPr>
          <a:xfrm>
            <a:off x="2231704" y="3507335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fae999c044_0_0"/>
          <p:cNvSpPr/>
          <p:nvPr/>
        </p:nvSpPr>
        <p:spPr>
          <a:xfrm>
            <a:off x="1969864" y="1931777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g3fae999c044_0_0"/>
          <p:cNvSpPr/>
          <p:nvPr/>
        </p:nvSpPr>
        <p:spPr>
          <a:xfrm>
            <a:off x="2170260" y="2437361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g3fae999c044_0_0"/>
          <p:cNvSpPr/>
          <p:nvPr/>
        </p:nvSpPr>
        <p:spPr>
          <a:xfrm>
            <a:off x="2170260" y="2938372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g3fae999c044_0_0"/>
          <p:cNvSpPr/>
          <p:nvPr/>
        </p:nvSpPr>
        <p:spPr>
          <a:xfrm>
            <a:off x="2170260" y="3439382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g3fae999c044_0_0"/>
          <p:cNvSpPr/>
          <p:nvPr/>
        </p:nvSpPr>
        <p:spPr>
          <a:xfrm>
            <a:off x="2978231" y="2010159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ae999c044_0_0"/>
          <p:cNvSpPr/>
          <p:nvPr/>
        </p:nvSpPr>
        <p:spPr>
          <a:xfrm>
            <a:off x="3152935" y="2507078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ae999c044_0_0"/>
          <p:cNvSpPr/>
          <p:nvPr/>
        </p:nvSpPr>
        <p:spPr>
          <a:xfrm>
            <a:off x="3152935" y="3003997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ae999c044_0_0"/>
          <p:cNvSpPr/>
          <p:nvPr/>
        </p:nvSpPr>
        <p:spPr>
          <a:xfrm>
            <a:off x="3152935" y="3500915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ae999c044_0_0"/>
          <p:cNvSpPr/>
          <p:nvPr/>
        </p:nvSpPr>
        <p:spPr>
          <a:xfrm>
            <a:off x="2902666" y="1947565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g3fae999c044_0_0"/>
          <p:cNvSpPr/>
          <p:nvPr/>
        </p:nvSpPr>
        <p:spPr>
          <a:xfrm>
            <a:off x="3096733" y="2453148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g3fae999c044_0_0"/>
          <p:cNvSpPr/>
          <p:nvPr/>
        </p:nvSpPr>
        <p:spPr>
          <a:xfrm>
            <a:off x="3103062" y="2947830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g3fae999c044_0_0"/>
          <p:cNvSpPr/>
          <p:nvPr/>
        </p:nvSpPr>
        <p:spPr>
          <a:xfrm>
            <a:off x="3103062" y="3458406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8" name="Google Shape;88;g3fae999c044_0_0"/>
          <p:cNvGrpSpPr/>
          <p:nvPr/>
        </p:nvGrpSpPr>
        <p:grpSpPr>
          <a:xfrm>
            <a:off x="4033310" y="2463388"/>
            <a:ext cx="685010" cy="1473973"/>
            <a:chOff x="4888925" y="3240036"/>
            <a:chExt cx="775162" cy="1667956"/>
          </a:xfrm>
        </p:grpSpPr>
        <p:sp>
          <p:nvSpPr>
            <p:cNvPr id="89" name="Google Shape;89;g3fae999c044_0_0"/>
            <p:cNvSpPr/>
            <p:nvPr/>
          </p:nvSpPr>
          <p:spPr>
            <a:xfrm>
              <a:off x="4981597" y="3301063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g3fae999c044_0_0"/>
            <p:cNvSpPr/>
            <p:nvPr/>
          </p:nvSpPr>
          <p:spPr>
            <a:xfrm>
              <a:off x="4981597" y="3863379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fae999c044_0_0"/>
            <p:cNvSpPr/>
            <p:nvPr/>
          </p:nvSpPr>
          <p:spPr>
            <a:xfrm>
              <a:off x="4981597" y="4425695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fae999c044_0_0"/>
            <p:cNvSpPr/>
            <p:nvPr/>
          </p:nvSpPr>
          <p:spPr>
            <a:xfrm>
              <a:off x="4888925" y="3240036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14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g3fae999c044_0_0"/>
            <p:cNvSpPr/>
            <p:nvPr/>
          </p:nvSpPr>
          <p:spPr>
            <a:xfrm>
              <a:off x="4896087" y="3799821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15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4" name="Google Shape;94;g3fae999c044_0_0"/>
            <p:cNvSpPr/>
            <p:nvPr/>
          </p:nvSpPr>
          <p:spPr>
            <a:xfrm>
              <a:off x="4896087" y="4377592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16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5" name="Google Shape;95;g3fae999c044_0_0"/>
          <p:cNvSpPr/>
          <p:nvPr/>
        </p:nvSpPr>
        <p:spPr>
          <a:xfrm>
            <a:off x="6174305" y="2695340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96" name="Google Shape;96;g3fae999c044_0_0"/>
          <p:cNvSpPr/>
          <p:nvPr/>
        </p:nvSpPr>
        <p:spPr>
          <a:xfrm>
            <a:off x="6174305" y="3192259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ae999c044_0_0"/>
          <p:cNvSpPr/>
          <p:nvPr/>
        </p:nvSpPr>
        <p:spPr>
          <a:xfrm>
            <a:off x="6174305" y="3689177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ae999c044_0_0"/>
          <p:cNvSpPr/>
          <p:nvPr/>
        </p:nvSpPr>
        <p:spPr>
          <a:xfrm>
            <a:off x="5809685" y="4146612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ae999c044_0_0"/>
          <p:cNvSpPr/>
          <p:nvPr/>
        </p:nvSpPr>
        <p:spPr>
          <a:xfrm>
            <a:off x="6112964" y="3143468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g3fae999c044_0_0"/>
          <p:cNvSpPr/>
          <p:nvPr/>
        </p:nvSpPr>
        <p:spPr>
          <a:xfrm>
            <a:off x="6119293" y="3638150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g3fae999c044_0_0"/>
          <p:cNvSpPr/>
          <p:nvPr/>
        </p:nvSpPr>
        <p:spPr>
          <a:xfrm>
            <a:off x="5737982" y="4093671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g3fae999c044_0_0"/>
          <p:cNvSpPr/>
          <p:nvPr/>
        </p:nvSpPr>
        <p:spPr>
          <a:xfrm>
            <a:off x="6112986" y="2643674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g3fae999c044_0_0"/>
          <p:cNvSpPr/>
          <p:nvPr/>
        </p:nvSpPr>
        <p:spPr>
          <a:xfrm>
            <a:off x="6174305" y="2195221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104" name="Google Shape;104;g3fae999c044_0_0"/>
          <p:cNvSpPr/>
          <p:nvPr/>
        </p:nvSpPr>
        <p:spPr>
          <a:xfrm>
            <a:off x="6123148" y="2150779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g3fae999c044_0_0"/>
          <p:cNvSpPr/>
          <p:nvPr/>
        </p:nvSpPr>
        <p:spPr>
          <a:xfrm>
            <a:off x="6182500" y="1370199"/>
            <a:ext cx="1346100" cy="237000"/>
          </a:xfrm>
          <a:prstGeom prst="roundRect">
            <a:avLst>
              <a:gd fmla="val 50000" name="adj"/>
            </a:avLst>
          </a:prstGeom>
          <a:solidFill>
            <a:srgbClr val="091422"/>
          </a:solidFill>
          <a:ln cap="flat" cmpd="sng" w="16825">
            <a:solidFill>
              <a:srgbClr val="1A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00" lIns="80800" spcFirstLastPara="1" rIns="80800" wrap="square" tIns="8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106" name="Google Shape;106;g3fae999c044_0_0"/>
          <p:cNvSpPr/>
          <p:nvPr/>
        </p:nvSpPr>
        <p:spPr>
          <a:xfrm>
            <a:off x="3504201" y="1428374"/>
            <a:ext cx="20847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CC"/>
              </a:buClr>
              <a:buSzPts val="972"/>
              <a:buFont typeface="Arial"/>
              <a:buNone/>
            </a:pPr>
            <a:r>
              <a:rPr b="1" i="0" lang="en" sz="972" u="none" cap="none" strike="noStrike">
                <a:solidFill>
                  <a:srgbClr val="4A7ACC"/>
                </a:solidFill>
                <a:latin typeface="Open Sans"/>
                <a:ea typeface="Open Sans"/>
                <a:cs typeface="Open Sans"/>
                <a:sym typeface="Open Sans"/>
              </a:rPr>
              <a:t>▲  </a:t>
            </a:r>
            <a:r>
              <a:rPr b="1" lang="en" sz="972">
                <a:solidFill>
                  <a:srgbClr val="4A7ACC"/>
                </a:solidFill>
                <a:latin typeface="Open Sans"/>
                <a:ea typeface="Open Sans"/>
                <a:cs typeface="Open Sans"/>
                <a:sym typeface="Open Sans"/>
              </a:rPr>
              <a:t>舞台</a:t>
            </a:r>
            <a:r>
              <a:rPr b="1" i="0" lang="en" sz="972" u="none" cap="none" strike="noStrike">
                <a:solidFill>
                  <a:srgbClr val="4A7ACC"/>
                </a:solidFill>
                <a:latin typeface="Open Sans"/>
                <a:ea typeface="Open Sans"/>
                <a:cs typeface="Open Sans"/>
                <a:sym typeface="Open Sans"/>
              </a:rPr>
              <a:t>  ▲</a:t>
            </a:r>
            <a:endParaRPr i="0" sz="972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g3fae999c044_0_0"/>
          <p:cNvSpPr/>
          <p:nvPr/>
        </p:nvSpPr>
        <p:spPr>
          <a:xfrm>
            <a:off x="6149050" y="1365779"/>
            <a:ext cx="14130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CC"/>
              </a:buClr>
              <a:buSzPts val="972"/>
              <a:buFont typeface="Arial"/>
              <a:buNone/>
            </a:pPr>
            <a:r>
              <a:rPr b="1" lang="en" sz="972">
                <a:solidFill>
                  <a:srgbClr val="4A7ACC"/>
                </a:solidFill>
                <a:latin typeface="Open Sans"/>
                <a:ea typeface="Open Sans"/>
                <a:cs typeface="Open Sans"/>
                <a:sym typeface="Open Sans"/>
              </a:rPr>
              <a:t>投影幕</a:t>
            </a:r>
            <a:endParaRPr i="0" sz="972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g3fae999c044_0_0"/>
          <p:cNvSpPr/>
          <p:nvPr/>
        </p:nvSpPr>
        <p:spPr>
          <a:xfrm>
            <a:off x="1325802" y="4048531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ae999c044_0_0"/>
          <p:cNvSpPr/>
          <p:nvPr/>
        </p:nvSpPr>
        <p:spPr>
          <a:xfrm>
            <a:off x="1259238" y="3999027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g3fae999c044_0_0"/>
          <p:cNvSpPr/>
          <p:nvPr/>
        </p:nvSpPr>
        <p:spPr>
          <a:xfrm>
            <a:off x="1084500" y="1370075"/>
            <a:ext cx="2030400" cy="198900"/>
          </a:xfrm>
          <a:prstGeom prst="roundRect">
            <a:avLst>
              <a:gd fmla="val 50000" name="adj"/>
            </a:avLst>
          </a:prstGeom>
          <a:solidFill>
            <a:srgbClr val="091422"/>
          </a:solidFill>
          <a:ln cap="flat" cmpd="sng" w="16825">
            <a:solidFill>
              <a:srgbClr val="1A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00" lIns="80800" spcFirstLastPara="1" rIns="80800" wrap="square" tIns="8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/>
          </a:p>
        </p:txBody>
      </p:sp>
      <p:sp>
        <p:nvSpPr>
          <p:cNvPr id="111" name="Google Shape;111;g3fae999c044_0_0"/>
          <p:cNvSpPr/>
          <p:nvPr/>
        </p:nvSpPr>
        <p:spPr>
          <a:xfrm>
            <a:off x="1173150" y="1335896"/>
            <a:ext cx="1770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CC"/>
              </a:buClr>
              <a:buSzPts val="972"/>
              <a:buFont typeface="Arial"/>
              <a:buNone/>
            </a:pPr>
            <a:r>
              <a:rPr b="1" lang="en" sz="972">
                <a:solidFill>
                  <a:srgbClr val="4A7ACC"/>
                </a:solidFill>
                <a:latin typeface="Open Sans"/>
                <a:ea typeface="Open Sans"/>
                <a:cs typeface="Open Sans"/>
                <a:sym typeface="Open Sans"/>
              </a:rPr>
              <a:t>投影幕</a:t>
            </a:r>
            <a:endParaRPr i="0" sz="972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g3fae999c044_0_0"/>
          <p:cNvSpPr/>
          <p:nvPr/>
        </p:nvSpPr>
        <p:spPr>
          <a:xfrm>
            <a:off x="6097550" y="4586075"/>
            <a:ext cx="1128600" cy="237000"/>
          </a:xfrm>
          <a:prstGeom prst="roundRect">
            <a:avLst>
              <a:gd fmla="val 30769" name="adj"/>
            </a:avLst>
          </a:prstGeom>
          <a:solidFill>
            <a:srgbClr val="165016">
              <a:alpha val="35440"/>
            </a:srgbClr>
          </a:solidFill>
          <a:ln cap="flat" cmpd="sng" w="11600">
            <a:solidFill>
              <a:srgbClr val="1650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C55E"/>
                </a:solidFill>
                <a:latin typeface="Open Sans"/>
                <a:ea typeface="Open Sans"/>
                <a:cs typeface="Open Sans"/>
                <a:sym typeface="Open Sans"/>
              </a:rPr>
              <a:t>出口</a:t>
            </a:r>
            <a:endParaRPr>
              <a:solidFill>
                <a:srgbClr val="22C55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3" name="Google Shape;113;g3fae999c044_0_0"/>
          <p:cNvGrpSpPr/>
          <p:nvPr/>
        </p:nvGrpSpPr>
        <p:grpSpPr>
          <a:xfrm>
            <a:off x="5025994" y="2458249"/>
            <a:ext cx="685010" cy="1473973"/>
            <a:chOff x="4888925" y="3240036"/>
            <a:chExt cx="775162" cy="1667956"/>
          </a:xfrm>
        </p:grpSpPr>
        <p:sp>
          <p:nvSpPr>
            <p:cNvPr id="114" name="Google Shape;114;g3fae999c044_0_0"/>
            <p:cNvSpPr/>
            <p:nvPr/>
          </p:nvSpPr>
          <p:spPr>
            <a:xfrm>
              <a:off x="4981597" y="3301063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fae999c044_0_0"/>
            <p:cNvSpPr/>
            <p:nvPr/>
          </p:nvSpPr>
          <p:spPr>
            <a:xfrm>
              <a:off x="4981597" y="3863379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fae999c044_0_0"/>
            <p:cNvSpPr/>
            <p:nvPr/>
          </p:nvSpPr>
          <p:spPr>
            <a:xfrm>
              <a:off x="4981597" y="4425695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fae999c044_0_0"/>
            <p:cNvSpPr/>
            <p:nvPr/>
          </p:nvSpPr>
          <p:spPr>
            <a:xfrm>
              <a:off x="4888925" y="3240036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17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8" name="Google Shape;118;g3fae999c044_0_0"/>
            <p:cNvSpPr/>
            <p:nvPr/>
          </p:nvSpPr>
          <p:spPr>
            <a:xfrm>
              <a:off x="4896087" y="3799821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18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9" name="Google Shape;119;g3fae999c044_0_0"/>
            <p:cNvSpPr/>
            <p:nvPr/>
          </p:nvSpPr>
          <p:spPr>
            <a:xfrm>
              <a:off x="4896087" y="4377592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19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20" name="Google Shape;120;g3fae999c044_0_0"/>
          <p:cNvGrpSpPr/>
          <p:nvPr/>
        </p:nvGrpSpPr>
        <p:grpSpPr>
          <a:xfrm>
            <a:off x="7278537" y="1626276"/>
            <a:ext cx="688866" cy="2466661"/>
            <a:chOff x="5774738" y="2124353"/>
            <a:chExt cx="779524" cy="2791288"/>
          </a:xfrm>
        </p:grpSpPr>
        <p:sp>
          <p:nvSpPr>
            <p:cNvPr id="121" name="Google Shape;121;g3fae999c044_0_0"/>
            <p:cNvSpPr/>
            <p:nvPr/>
          </p:nvSpPr>
          <p:spPr>
            <a:xfrm>
              <a:off x="5867409" y="2746396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7"/>
            </a:p>
          </p:txBody>
        </p:sp>
        <p:sp>
          <p:nvSpPr>
            <p:cNvPr id="122" name="Google Shape;122;g3fae999c044_0_0"/>
            <p:cNvSpPr/>
            <p:nvPr/>
          </p:nvSpPr>
          <p:spPr>
            <a:xfrm>
              <a:off x="5867409" y="3308712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fae999c044_0_0"/>
            <p:cNvSpPr/>
            <p:nvPr/>
          </p:nvSpPr>
          <p:spPr>
            <a:xfrm>
              <a:off x="5867409" y="387102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fae999c044_0_0"/>
            <p:cNvSpPr/>
            <p:nvPr/>
          </p:nvSpPr>
          <p:spPr>
            <a:xfrm>
              <a:off x="5867409" y="4433343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g3fae999c044_0_0"/>
            <p:cNvSpPr/>
            <p:nvPr/>
          </p:nvSpPr>
          <p:spPr>
            <a:xfrm>
              <a:off x="5774738" y="3247684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27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6" name="Google Shape;126;g3fae999c044_0_0"/>
            <p:cNvSpPr/>
            <p:nvPr/>
          </p:nvSpPr>
          <p:spPr>
            <a:xfrm>
              <a:off x="5781899" y="3807470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28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7" name="Google Shape;127;g3fae999c044_0_0"/>
            <p:cNvSpPr/>
            <p:nvPr/>
          </p:nvSpPr>
          <p:spPr>
            <a:xfrm>
              <a:off x="5781899" y="4385240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29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8" name="Google Shape;128;g3fae999c044_0_0"/>
            <p:cNvSpPr/>
            <p:nvPr/>
          </p:nvSpPr>
          <p:spPr>
            <a:xfrm>
              <a:off x="5774762" y="2682115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26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9" name="Google Shape;129;g3fae999c044_0_0"/>
            <p:cNvSpPr/>
            <p:nvPr/>
          </p:nvSpPr>
          <p:spPr>
            <a:xfrm>
              <a:off x="5867409" y="2180458"/>
              <a:ext cx="605700" cy="418200"/>
            </a:xfrm>
            <a:prstGeom prst="roundRect">
              <a:avLst>
                <a:gd fmla="val 17241" name="adj"/>
              </a:avLst>
            </a:prstGeom>
            <a:solidFill>
              <a:schemeClr val="lt1"/>
            </a:solidFill>
            <a:ln cap="flat" cmpd="sng" w="88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3091" rotWithShape="0" algn="bl" dir="8100000" dist="17697">
                <a:srgbClr val="000030">
                  <a:alpha val="45100"/>
                </a:srgbClr>
              </a:outerShdw>
            </a:effectLst>
          </p:spPr>
          <p:txBody>
            <a:bodyPr anchorCtr="0" anchor="ctr" bIns="63700" lIns="63700" spcFirstLastPara="1" rIns="63700" wrap="square" tIns="63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7"/>
            </a:p>
          </p:txBody>
        </p:sp>
        <p:sp>
          <p:nvSpPr>
            <p:cNvPr id="130" name="Google Shape;130;g3fae999c044_0_0"/>
            <p:cNvSpPr/>
            <p:nvPr/>
          </p:nvSpPr>
          <p:spPr>
            <a:xfrm>
              <a:off x="5786262" y="2124353"/>
              <a:ext cx="7680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375" lIns="80800" spcFirstLastPara="1" rIns="80800" wrap="square" tIns="403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0F1E"/>
                </a:buClr>
                <a:buSzPts val="2121"/>
                <a:buFont typeface="Arial Black"/>
                <a:buNone/>
              </a:pPr>
              <a:r>
                <a:rPr b="1" lang="en" sz="1237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25</a:t>
              </a:r>
              <a:endParaRPr i="0" sz="1237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1" name="Google Shape;131;g3fae999c044_0_0"/>
          <p:cNvSpPr/>
          <p:nvPr/>
        </p:nvSpPr>
        <p:spPr>
          <a:xfrm>
            <a:off x="7185780" y="4155109"/>
            <a:ext cx="535200" cy="369600"/>
          </a:xfrm>
          <a:prstGeom prst="roundRect">
            <a:avLst>
              <a:gd fmla="val 17241" name="adj"/>
            </a:avLst>
          </a:prstGeom>
          <a:solidFill>
            <a:schemeClr val="lt1"/>
          </a:solidFill>
          <a:ln cap="flat" cmpd="sng" w="88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3091" rotWithShape="0" algn="bl" dir="8100000" dist="17697">
              <a:srgbClr val="000030">
                <a:alpha val="45100"/>
              </a:srgbClr>
            </a:outerShdw>
          </a:effectLst>
        </p:spPr>
        <p:txBody>
          <a:bodyPr anchorCtr="0" anchor="ctr" bIns="63700" lIns="63700" spcFirstLastPara="1" rIns="63700" wrap="square" tIns="63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ae999c044_0_0"/>
          <p:cNvSpPr/>
          <p:nvPr/>
        </p:nvSpPr>
        <p:spPr>
          <a:xfrm>
            <a:off x="7114066" y="4111990"/>
            <a:ext cx="678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375" lIns="80800" spcFirstLastPara="1" rIns="80800" wrap="square" tIns="4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2121"/>
              <a:buFont typeface="Arial Black"/>
              <a:buNone/>
            </a:pPr>
            <a:r>
              <a:rPr b="1" lang="en" sz="123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 i="0" sz="1237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g3fae999c044_0_0"/>
          <p:cNvSpPr/>
          <p:nvPr/>
        </p:nvSpPr>
        <p:spPr>
          <a:xfrm>
            <a:off x="765000" y="1602775"/>
            <a:ext cx="367800" cy="974400"/>
          </a:xfrm>
          <a:prstGeom prst="roundRect">
            <a:avLst>
              <a:gd fmla="val 30769" name="adj"/>
            </a:avLst>
          </a:prstGeom>
          <a:solidFill>
            <a:srgbClr val="F15C37">
              <a:alpha val="43040"/>
            </a:srgbClr>
          </a:solidFill>
          <a:ln cap="flat" cmpd="sng" w="11600">
            <a:solidFill>
              <a:srgbClr val="F15C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15C37"/>
                </a:solidFill>
                <a:latin typeface="Open Sans"/>
                <a:ea typeface="Open Sans"/>
                <a:cs typeface="Open Sans"/>
                <a:sym typeface="Open Sans"/>
              </a:rPr>
              <a:t>IT</a:t>
            </a:r>
            <a:br>
              <a:rPr lang="en" sz="1200">
                <a:solidFill>
                  <a:srgbClr val="F15C37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F15C37"/>
                </a:solidFill>
                <a:latin typeface="Open Sans"/>
                <a:ea typeface="Open Sans"/>
                <a:cs typeface="Open Sans"/>
                <a:sym typeface="Open Sans"/>
              </a:rPr>
              <a:t>諮詢處</a:t>
            </a:r>
            <a:endParaRPr sz="1200">
              <a:solidFill>
                <a:srgbClr val="F15C3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g3fae999c044_0_0"/>
          <p:cNvSpPr/>
          <p:nvPr/>
        </p:nvSpPr>
        <p:spPr>
          <a:xfrm>
            <a:off x="749700" y="2954149"/>
            <a:ext cx="398400" cy="1133700"/>
          </a:xfrm>
          <a:prstGeom prst="roundRect">
            <a:avLst>
              <a:gd fmla="val 30769" name="adj"/>
            </a:avLst>
          </a:prstGeom>
          <a:solidFill>
            <a:srgbClr val="E61D27">
              <a:alpha val="44300"/>
            </a:srgbClr>
          </a:solidFill>
          <a:ln cap="flat" cmpd="sng" w="11600">
            <a:solidFill>
              <a:srgbClr val="E61D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1D27"/>
                </a:solidFill>
                <a:latin typeface="Open Sans"/>
                <a:ea typeface="Open Sans"/>
                <a:cs typeface="Open Sans"/>
                <a:sym typeface="Open Sans"/>
              </a:rPr>
              <a:t>茶水供應</a:t>
            </a:r>
            <a:endParaRPr sz="1200">
              <a:solidFill>
                <a:srgbClr val="E61D2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g3fae999c044_0_0"/>
          <p:cNvSpPr/>
          <p:nvPr/>
        </p:nvSpPr>
        <p:spPr>
          <a:xfrm>
            <a:off x="4377575" y="4847200"/>
            <a:ext cx="923400" cy="267000"/>
          </a:xfrm>
          <a:prstGeom prst="roundRect">
            <a:avLst>
              <a:gd fmla="val 30769" name="adj"/>
            </a:avLst>
          </a:prstGeom>
          <a:solidFill>
            <a:srgbClr val="7ED1F5">
              <a:alpha val="46840"/>
            </a:srgbClr>
          </a:solidFill>
          <a:ln cap="flat" cmpd="sng" w="11600">
            <a:solidFill>
              <a:srgbClr val="7ED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ED1F5"/>
                </a:solidFill>
                <a:latin typeface="Open Sans"/>
                <a:ea typeface="Open Sans"/>
                <a:cs typeface="Open Sans"/>
                <a:sym typeface="Open Sans"/>
              </a:rPr>
              <a:t>服務台</a:t>
            </a:r>
            <a:endParaRPr>
              <a:solidFill>
                <a:srgbClr val="7ED1F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g3fae999c044_0_0"/>
          <p:cNvSpPr/>
          <p:nvPr/>
        </p:nvSpPr>
        <p:spPr>
          <a:xfrm>
            <a:off x="5300975" y="4847200"/>
            <a:ext cx="923400" cy="267000"/>
          </a:xfrm>
          <a:prstGeom prst="roundRect">
            <a:avLst>
              <a:gd fmla="val 30769" name="adj"/>
            </a:avLst>
          </a:prstGeom>
          <a:solidFill>
            <a:srgbClr val="7ED1F5">
              <a:alpha val="46840"/>
            </a:srgbClr>
          </a:solidFill>
          <a:ln cap="flat" cmpd="sng" w="11600">
            <a:solidFill>
              <a:srgbClr val="7ED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425" lIns="83425" spcFirstLastPara="1" rIns="83425" wrap="square" tIns="8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ED1F5"/>
                </a:solidFill>
                <a:latin typeface="Open Sans"/>
                <a:ea typeface="Open Sans"/>
                <a:cs typeface="Open Sans"/>
                <a:sym typeface="Open Sans"/>
              </a:rPr>
              <a:t>醫護站</a:t>
            </a:r>
            <a:endParaRPr>
              <a:solidFill>
                <a:srgbClr val="7ED1F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g3fae999c044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f88532cb_4_0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9f88532cb_4_0"/>
          <p:cNvSpPr txBox="1"/>
          <p:nvPr/>
        </p:nvSpPr>
        <p:spPr>
          <a:xfrm>
            <a:off x="1940550" y="719000"/>
            <a:ext cx="552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議程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4" name="Google Shape;144;g3f9f88532cb_4_0"/>
          <p:cNvGraphicFramePr/>
          <p:nvPr/>
        </p:nvGraphicFramePr>
        <p:xfrm>
          <a:off x="1779600" y="136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{A2BAD091-134E-45A1-8E60-73AEFD6A479E}</a:tableStyleId>
              </a:tblPr>
              <a:tblGrid>
                <a:gridCol w="1701625"/>
                <a:gridCol w="1616925"/>
                <a:gridCol w="2266250"/>
              </a:tblGrid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9:40 AM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開幕式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10:22 AM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比賽規則說明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10:35 AM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開始開發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12:30 PM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午餐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5:35 PM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作品提交截止時間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5:52 PM - 6:58 PM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第一輪評選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、晚餐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7:48 PM - 8:44 PM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第二輪評選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9:10 PM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頒獎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9:45 PM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紀念品、參賽證明發放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10:05 PM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活動結束</a:t>
                      </a:r>
                      <a:endParaRPr sz="1200">
                        <a:solidFill>
                          <a:schemeClr val="lt1"/>
                        </a:solidFill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5" name="Google Shape;145;g3f9f88532cb_4_0"/>
          <p:cNvCxnSpPr/>
          <p:nvPr/>
        </p:nvCxnSpPr>
        <p:spPr>
          <a:xfrm>
            <a:off x="4356077" y="1492196"/>
            <a:ext cx="0" cy="358800"/>
          </a:xfrm>
          <a:prstGeom prst="straightConnector1">
            <a:avLst/>
          </a:prstGeom>
          <a:noFill/>
          <a:ln cap="flat" cmpd="sng" w="109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g3f9f88532cb_4_0"/>
          <p:cNvSpPr/>
          <p:nvPr/>
        </p:nvSpPr>
        <p:spPr>
          <a:xfrm>
            <a:off x="4298098" y="1850611"/>
            <a:ext cx="116100" cy="116100"/>
          </a:xfrm>
          <a:prstGeom prst="ellipse">
            <a:avLst/>
          </a:prstGeom>
          <a:solidFill>
            <a:srgbClr val="00C8B4"/>
          </a:solidFill>
          <a:ln cap="flat" cmpd="sng" w="1097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g3f9f88532cb_4_0"/>
          <p:cNvCxnSpPr/>
          <p:nvPr/>
        </p:nvCxnSpPr>
        <p:spPr>
          <a:xfrm>
            <a:off x="4356077" y="1975329"/>
            <a:ext cx="0" cy="358800"/>
          </a:xfrm>
          <a:prstGeom prst="straightConnector1">
            <a:avLst/>
          </a:prstGeom>
          <a:noFill/>
          <a:ln cap="flat" cmpd="sng" w="109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g3f9f88532cb_4_0"/>
          <p:cNvCxnSpPr>
            <a:endCxn id="149" idx="0"/>
          </p:cNvCxnSpPr>
          <p:nvPr/>
        </p:nvCxnSpPr>
        <p:spPr>
          <a:xfrm flipH="1">
            <a:off x="4353000" y="2353844"/>
            <a:ext cx="3000" cy="624300"/>
          </a:xfrm>
          <a:prstGeom prst="straightConnector1">
            <a:avLst/>
          </a:prstGeom>
          <a:noFill/>
          <a:ln cap="flat" cmpd="sng" w="109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g3f9f88532cb_4_0"/>
          <p:cNvSpPr/>
          <p:nvPr/>
        </p:nvSpPr>
        <p:spPr>
          <a:xfrm>
            <a:off x="4298098" y="2217055"/>
            <a:ext cx="116100" cy="116100"/>
          </a:xfrm>
          <a:prstGeom prst="ellipse">
            <a:avLst/>
          </a:prstGeom>
          <a:solidFill>
            <a:srgbClr val="0077DD"/>
          </a:solidFill>
          <a:ln cap="flat" cmpd="sng" w="10975">
            <a:solidFill>
              <a:srgbClr val="00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cxnSp>
        <p:nvCxnSpPr>
          <p:cNvPr id="151" name="Google Shape;151;g3f9f88532cb_4_0"/>
          <p:cNvCxnSpPr>
            <a:stCxn id="149" idx="4"/>
            <a:endCxn id="152" idx="0"/>
          </p:cNvCxnSpPr>
          <p:nvPr/>
        </p:nvCxnSpPr>
        <p:spPr>
          <a:xfrm>
            <a:off x="4353000" y="3094244"/>
            <a:ext cx="3000" cy="570600"/>
          </a:xfrm>
          <a:prstGeom prst="straightConnector1">
            <a:avLst/>
          </a:prstGeom>
          <a:noFill/>
          <a:ln cap="flat" cmpd="sng" w="109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g3f9f88532cb_4_0"/>
          <p:cNvCxnSpPr>
            <a:endCxn id="154" idx="0"/>
          </p:cNvCxnSpPr>
          <p:nvPr/>
        </p:nvCxnSpPr>
        <p:spPr>
          <a:xfrm>
            <a:off x="4356148" y="3571161"/>
            <a:ext cx="0" cy="486300"/>
          </a:xfrm>
          <a:prstGeom prst="straightConnector1">
            <a:avLst/>
          </a:prstGeom>
          <a:noFill/>
          <a:ln cap="flat" cmpd="sng" w="109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g3f9f88532cb_4_0"/>
          <p:cNvCxnSpPr/>
          <p:nvPr/>
        </p:nvCxnSpPr>
        <p:spPr>
          <a:xfrm>
            <a:off x="4356048" y="3970617"/>
            <a:ext cx="0" cy="358800"/>
          </a:xfrm>
          <a:prstGeom prst="straightConnector1">
            <a:avLst/>
          </a:prstGeom>
          <a:noFill/>
          <a:ln cap="flat" cmpd="sng" w="109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g3f9f88532cb_4_0"/>
          <p:cNvCxnSpPr>
            <a:endCxn id="157" idx="0"/>
          </p:cNvCxnSpPr>
          <p:nvPr/>
        </p:nvCxnSpPr>
        <p:spPr>
          <a:xfrm>
            <a:off x="4356177" y="4331569"/>
            <a:ext cx="0" cy="502200"/>
          </a:xfrm>
          <a:prstGeom prst="straightConnector1">
            <a:avLst/>
          </a:prstGeom>
          <a:noFill/>
          <a:ln cap="flat" cmpd="sng" w="109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g3f9f88532cb_4_0"/>
          <p:cNvSpPr/>
          <p:nvPr/>
        </p:nvSpPr>
        <p:spPr>
          <a:xfrm>
            <a:off x="4298127" y="4833769"/>
            <a:ext cx="116100" cy="116100"/>
          </a:xfrm>
          <a:prstGeom prst="ellipse">
            <a:avLst/>
          </a:prstGeom>
          <a:solidFill>
            <a:srgbClr val="0077DD"/>
          </a:solidFill>
          <a:ln cap="flat" cmpd="sng" w="10975">
            <a:solidFill>
              <a:srgbClr val="00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sp>
        <p:nvSpPr>
          <p:cNvPr id="158" name="Google Shape;158;g3f9f88532cb_4_0"/>
          <p:cNvSpPr/>
          <p:nvPr/>
        </p:nvSpPr>
        <p:spPr>
          <a:xfrm>
            <a:off x="4298098" y="4446590"/>
            <a:ext cx="116100" cy="116100"/>
          </a:xfrm>
          <a:prstGeom prst="ellipse">
            <a:avLst/>
          </a:prstGeom>
          <a:solidFill>
            <a:srgbClr val="00C8B4"/>
          </a:solidFill>
          <a:ln cap="flat" cmpd="sng" w="1097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sp>
        <p:nvSpPr>
          <p:cNvPr id="154" name="Google Shape;154;g3f9f88532cb_4_0"/>
          <p:cNvSpPr/>
          <p:nvPr/>
        </p:nvSpPr>
        <p:spPr>
          <a:xfrm>
            <a:off x="4298098" y="4057461"/>
            <a:ext cx="116100" cy="116100"/>
          </a:xfrm>
          <a:prstGeom prst="ellipse">
            <a:avLst/>
          </a:prstGeom>
          <a:solidFill>
            <a:srgbClr val="00C8B4"/>
          </a:solidFill>
          <a:ln cap="flat" cmpd="sng" w="1097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sp>
        <p:nvSpPr>
          <p:cNvPr id="152" name="Google Shape;152;g3f9f88532cb_4_0"/>
          <p:cNvSpPr/>
          <p:nvPr/>
        </p:nvSpPr>
        <p:spPr>
          <a:xfrm>
            <a:off x="4298098" y="3664804"/>
            <a:ext cx="116100" cy="116100"/>
          </a:xfrm>
          <a:prstGeom prst="ellipse">
            <a:avLst/>
          </a:prstGeom>
          <a:solidFill>
            <a:srgbClr val="00C8B4"/>
          </a:solidFill>
          <a:ln cap="flat" cmpd="sng" w="1097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sp>
        <p:nvSpPr>
          <p:cNvPr id="159" name="Google Shape;159;g3f9f88532cb_4_0"/>
          <p:cNvSpPr/>
          <p:nvPr/>
        </p:nvSpPr>
        <p:spPr>
          <a:xfrm>
            <a:off x="4298098" y="1438388"/>
            <a:ext cx="116100" cy="116100"/>
          </a:xfrm>
          <a:prstGeom prst="ellipse">
            <a:avLst/>
          </a:prstGeom>
          <a:solidFill>
            <a:srgbClr val="0077DD"/>
          </a:solidFill>
          <a:ln cap="flat" cmpd="sng" w="10975">
            <a:solidFill>
              <a:srgbClr val="007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9f88532cb_4_0"/>
          <p:cNvSpPr/>
          <p:nvPr/>
        </p:nvSpPr>
        <p:spPr>
          <a:xfrm>
            <a:off x="4294950" y="2978144"/>
            <a:ext cx="116100" cy="116100"/>
          </a:xfrm>
          <a:prstGeom prst="ellipse">
            <a:avLst/>
          </a:prstGeom>
          <a:solidFill>
            <a:srgbClr val="FF6633"/>
          </a:solidFill>
          <a:ln cap="flat" cmpd="sng" w="10975">
            <a:solidFill>
              <a:srgbClr val="FF66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sp>
        <p:nvSpPr>
          <p:cNvPr id="160" name="Google Shape;160;g3f9f88532cb_4_0"/>
          <p:cNvSpPr/>
          <p:nvPr/>
        </p:nvSpPr>
        <p:spPr>
          <a:xfrm>
            <a:off x="4294961" y="3319086"/>
            <a:ext cx="116100" cy="116100"/>
          </a:xfrm>
          <a:prstGeom prst="ellipse">
            <a:avLst/>
          </a:prstGeom>
          <a:solidFill>
            <a:srgbClr val="00C8B4"/>
          </a:solidFill>
          <a:ln cap="flat" cmpd="sng" w="1097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  <p:sp>
        <p:nvSpPr>
          <p:cNvPr id="161" name="Google Shape;161;g3f9f88532cb_4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g3f9f88532cb_4_0"/>
          <p:cNvSpPr/>
          <p:nvPr/>
        </p:nvSpPr>
        <p:spPr>
          <a:xfrm>
            <a:off x="4294965" y="2584850"/>
            <a:ext cx="116100" cy="116100"/>
          </a:xfrm>
          <a:prstGeom prst="ellipse">
            <a:avLst/>
          </a:prstGeom>
          <a:solidFill>
            <a:srgbClr val="00C8B4"/>
          </a:solidFill>
          <a:ln cap="flat" cmpd="sng" w="10975">
            <a:solidFill>
              <a:srgbClr val="00C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09bec20cff_0_0"/>
          <p:cNvSpPr/>
          <p:nvPr/>
        </p:nvSpPr>
        <p:spPr>
          <a:xfrm>
            <a:off x="182875" y="1466100"/>
            <a:ext cx="2560200" cy="3122700"/>
          </a:xfrm>
          <a:prstGeom prst="rect">
            <a:avLst/>
          </a:prstGeom>
          <a:solidFill>
            <a:srgbClr val="111111">
              <a:alpha val="85100"/>
            </a:srgbClr>
          </a:solidFill>
          <a:ln cap="flat" cmpd="sng" w="1522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409bec20cff_0_0"/>
          <p:cNvSpPr/>
          <p:nvPr/>
        </p:nvSpPr>
        <p:spPr>
          <a:xfrm>
            <a:off x="182880" y="1409566"/>
            <a:ext cx="2560200" cy="504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409bec20cff_0_0"/>
          <p:cNvSpPr/>
          <p:nvPr/>
        </p:nvSpPr>
        <p:spPr>
          <a:xfrm>
            <a:off x="320040" y="1531836"/>
            <a:ext cx="228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Wi-Fi 連線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0" name="Google Shape;170;g409bec20cff_0_0"/>
          <p:cNvCxnSpPr/>
          <p:nvPr/>
        </p:nvCxnSpPr>
        <p:spPr>
          <a:xfrm>
            <a:off x="320040" y="1923288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g409bec20cff_0_0"/>
          <p:cNvSpPr/>
          <p:nvPr/>
        </p:nvSpPr>
        <p:spPr>
          <a:xfrm>
            <a:off x="347472" y="199644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680"/>
              <a:buFont typeface="Arial"/>
              <a:buNone/>
            </a:pPr>
            <a:r>
              <a:rPr b="1" lang="en">
                <a:solidFill>
                  <a:srgbClr val="4A90D9"/>
                </a:solidFill>
                <a:latin typeface="Open Sans"/>
                <a:ea typeface="Open Sans"/>
                <a:cs typeface="Open Sans"/>
                <a:sym typeface="Open Sans"/>
              </a:rPr>
              <a:t>Wi-Fi 名稱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g409bec20cff_0_0"/>
          <p:cNvSpPr/>
          <p:nvPr/>
        </p:nvSpPr>
        <p:spPr>
          <a:xfrm>
            <a:off x="347472" y="2182199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SEAXOPENAI2026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g409bec20cff_0_0"/>
          <p:cNvSpPr/>
          <p:nvPr/>
        </p:nvSpPr>
        <p:spPr>
          <a:xfrm>
            <a:off x="336889" y="2487337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680"/>
              <a:buFont typeface="Arial"/>
              <a:buNone/>
            </a:pPr>
            <a:r>
              <a:rPr b="1" lang="en">
                <a:solidFill>
                  <a:srgbClr val="4A90D9"/>
                </a:solidFill>
                <a:latin typeface="Open Sans"/>
                <a:ea typeface="Open Sans"/>
                <a:cs typeface="Open Sans"/>
                <a:sym typeface="Open Sans"/>
              </a:rPr>
              <a:t>密碼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g409bec20cff_0_0"/>
          <p:cNvSpPr/>
          <p:nvPr/>
        </p:nvSpPr>
        <p:spPr>
          <a:xfrm>
            <a:off x="2871225" y="1466100"/>
            <a:ext cx="2834700" cy="3122700"/>
          </a:xfrm>
          <a:prstGeom prst="rect">
            <a:avLst/>
          </a:prstGeom>
          <a:solidFill>
            <a:srgbClr val="111111">
              <a:alpha val="85100"/>
            </a:srgbClr>
          </a:solidFill>
          <a:ln cap="flat" cmpd="sng" w="15225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409bec20cff_0_0"/>
          <p:cNvSpPr/>
          <p:nvPr/>
        </p:nvSpPr>
        <p:spPr>
          <a:xfrm>
            <a:off x="2871216" y="1414704"/>
            <a:ext cx="2834700" cy="50400"/>
          </a:xfrm>
          <a:prstGeom prst="rect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409bec20cff_0_0"/>
          <p:cNvSpPr/>
          <p:nvPr/>
        </p:nvSpPr>
        <p:spPr>
          <a:xfrm>
            <a:off x="3008375" y="1531833"/>
            <a:ext cx="2662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odex Credits</a:t>
            </a:r>
            <a:r>
              <a:rPr b="1"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(美金100元，約新台幣3,000元)</a:t>
            </a: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7" name="Google Shape;177;g409bec20cff_0_0"/>
          <p:cNvCxnSpPr/>
          <p:nvPr/>
        </p:nvCxnSpPr>
        <p:spPr>
          <a:xfrm>
            <a:off x="3008376" y="1964395"/>
            <a:ext cx="2560200" cy="0"/>
          </a:xfrm>
          <a:prstGeom prst="straightConnector1">
            <a:avLst/>
          </a:prstGeom>
          <a:noFill/>
          <a:ln cap="flat" cmpd="sng" w="9525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g409bec20cff_0_0"/>
          <p:cNvSpPr/>
          <p:nvPr/>
        </p:nvSpPr>
        <p:spPr>
          <a:xfrm>
            <a:off x="3035808" y="2130645"/>
            <a:ext cx="210300" cy="210300"/>
          </a:xfrm>
          <a:prstGeom prst="ellipse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409bec20cff_0_0"/>
          <p:cNvSpPr/>
          <p:nvPr/>
        </p:nvSpPr>
        <p:spPr>
          <a:xfrm>
            <a:off x="3294713" y="2037547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登入您欲使用的 ChatGPT 帳號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g409bec20cff_0_0"/>
          <p:cNvSpPr/>
          <p:nvPr/>
        </p:nvSpPr>
        <p:spPr>
          <a:xfrm>
            <a:off x="3035808" y="2531323"/>
            <a:ext cx="210300" cy="210300"/>
          </a:xfrm>
          <a:prstGeom prst="ellipse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409bec20cff_0_0"/>
          <p:cNvSpPr/>
          <p:nvPr/>
        </p:nvSpPr>
        <p:spPr>
          <a:xfrm>
            <a:off x="3287325" y="2532460"/>
            <a:ext cx="233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開啟寄送至您信箱的啟用郵件，並點擊其中的專屬優惠連結，點選「Redeem credits」(兌換)。</a:t>
            </a:r>
            <a:endParaRPr sz="1200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g409bec20cff_0_0"/>
          <p:cNvSpPr/>
          <p:nvPr/>
        </p:nvSpPr>
        <p:spPr>
          <a:xfrm>
            <a:off x="5833875" y="1466100"/>
            <a:ext cx="3127200" cy="3122700"/>
          </a:xfrm>
          <a:prstGeom prst="rect">
            <a:avLst/>
          </a:prstGeom>
          <a:solidFill>
            <a:srgbClr val="111111">
              <a:alpha val="85100"/>
            </a:srgbClr>
          </a:solidFill>
          <a:ln cap="flat" cmpd="sng" w="152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409bec20cff_0_0"/>
          <p:cNvSpPr/>
          <p:nvPr/>
        </p:nvSpPr>
        <p:spPr>
          <a:xfrm>
            <a:off x="5833872" y="1409566"/>
            <a:ext cx="3127200" cy="50400"/>
          </a:xfrm>
          <a:prstGeom prst="rect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409bec20cff_0_0"/>
          <p:cNvSpPr/>
          <p:nvPr/>
        </p:nvSpPr>
        <p:spPr>
          <a:xfrm>
            <a:off x="5887150" y="1546543"/>
            <a:ext cx="307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API Credits (</a:t>
            </a: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美金</a:t>
            </a:r>
            <a:r>
              <a:rPr b="1" i="0" lang="en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元，約新台幣3,000元</a:t>
            </a:r>
            <a:r>
              <a:rPr b="1" i="0" lang="en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5" name="Google Shape;185;g409bec20cff_0_0"/>
          <p:cNvCxnSpPr/>
          <p:nvPr/>
        </p:nvCxnSpPr>
        <p:spPr>
          <a:xfrm>
            <a:off x="5971032" y="1972320"/>
            <a:ext cx="2853000" cy="0"/>
          </a:xfrm>
          <a:prstGeom prst="straightConnector1">
            <a:avLst/>
          </a:prstGeom>
          <a:noFill/>
          <a:ln cap="flat" cmpd="sng" w="9525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g409bec20cff_0_0"/>
          <p:cNvSpPr/>
          <p:nvPr/>
        </p:nvSpPr>
        <p:spPr>
          <a:xfrm>
            <a:off x="5998464" y="2079261"/>
            <a:ext cx="210300" cy="210300"/>
          </a:xfrm>
          <a:prstGeom prst="ellipse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409bec20cff_0_0"/>
          <p:cNvSpPr/>
          <p:nvPr/>
        </p:nvSpPr>
        <p:spPr>
          <a:xfrm>
            <a:off x="5998464" y="2074123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g409bec20cff_0_0"/>
          <p:cNvSpPr/>
          <p:nvPr/>
        </p:nvSpPr>
        <p:spPr>
          <a:xfrm>
            <a:off x="6272784" y="2061875"/>
            <a:ext cx="26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前往 </a:t>
            </a:r>
            <a:r>
              <a:rPr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platform.openai.com</a:t>
            </a: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，登入您的 ChatGPT 帳號。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g409bec20cff_0_0"/>
          <p:cNvSpPr/>
          <p:nvPr/>
        </p:nvSpPr>
        <p:spPr>
          <a:xfrm>
            <a:off x="5998464" y="2557015"/>
            <a:ext cx="210300" cy="210300"/>
          </a:xfrm>
          <a:prstGeom prst="ellipse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409bec20cff_0_0"/>
          <p:cNvSpPr/>
          <p:nvPr/>
        </p:nvSpPr>
        <p:spPr>
          <a:xfrm>
            <a:off x="5998464" y="2546738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g409bec20cff_0_0"/>
          <p:cNvSpPr/>
          <p:nvPr/>
        </p:nvSpPr>
        <p:spPr>
          <a:xfrm>
            <a:off x="6272775" y="2435416"/>
            <a:ext cx="262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於 「Add a promotional credit」 欄位輸入序號，並點選 「Apply」。</a:t>
            </a:r>
            <a:endParaRPr sz="1200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g409bec20cff_0_0"/>
          <p:cNvSpPr/>
          <p:nvPr/>
        </p:nvSpPr>
        <p:spPr>
          <a:xfrm>
            <a:off x="5998464" y="3110426"/>
            <a:ext cx="210300" cy="210300"/>
          </a:xfrm>
          <a:prstGeom prst="ellipse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409bec20cff_0_0"/>
          <p:cNvSpPr/>
          <p:nvPr/>
        </p:nvSpPr>
        <p:spPr>
          <a:xfrm>
            <a:off x="5998464" y="3099679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g409bec20cff_0_0"/>
          <p:cNvSpPr/>
          <p:nvPr/>
        </p:nvSpPr>
        <p:spPr>
          <a:xfrm>
            <a:off x="6272775" y="3191914"/>
            <a:ext cx="262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兌換成功後，畫面上應會顯示綠色的確認訊息，表示 credits 已成功匯入。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g409bec20cff_0_0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409bec20cff_0_0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工具設定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g409bec20cff_0_0"/>
          <p:cNvSpPr/>
          <p:nvPr/>
        </p:nvSpPr>
        <p:spPr>
          <a:xfrm>
            <a:off x="2975149" y="4055544"/>
            <a:ext cx="256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1" lang="en" sz="1200">
                <a:solidFill>
                  <a:srgbClr val="FF5621"/>
                </a:solidFill>
                <a:latin typeface="Open Sans"/>
                <a:ea typeface="Open Sans"/>
                <a:cs typeface="Open Sans"/>
                <a:sym typeface="Open Sans"/>
              </a:rPr>
              <a:t>注意事項：</a:t>
            </a:r>
            <a:b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此連結為您的專屬連結，僅限兌換一次，請勿與他人分享。</a:t>
            </a:r>
            <a:endParaRPr sz="1200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g409bec20cff_0_0"/>
          <p:cNvSpPr/>
          <p:nvPr/>
        </p:nvSpPr>
        <p:spPr>
          <a:xfrm>
            <a:off x="5951332" y="4055796"/>
            <a:ext cx="2892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b="1" lang="en" sz="1200">
                <a:solidFill>
                  <a:srgbClr val="12A37F"/>
                </a:solidFill>
                <a:latin typeface="Open Sans"/>
                <a:ea typeface="Open Sans"/>
                <a:cs typeface="Open Sans"/>
                <a:sym typeface="Open Sans"/>
              </a:rPr>
              <a:t>注意事項：</a:t>
            </a:r>
            <a:br>
              <a:rPr b="1" lang="en" sz="1200">
                <a:solidFill>
                  <a:srgbClr val="12A37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優惠碼為您的專屬代碼，僅限兌換一次，請勿與他人分享。</a:t>
            </a:r>
            <a:endParaRPr sz="1200">
              <a:solidFill>
                <a:srgbClr val="EEEEE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g409bec20cff_0_0"/>
          <p:cNvSpPr/>
          <p:nvPr/>
        </p:nvSpPr>
        <p:spPr>
          <a:xfrm>
            <a:off x="600703" y="4652571"/>
            <a:ext cx="7812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75" lIns="84000" spcFirstLastPara="1" rIns="84000" wrap="square" tIns="41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4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如有任何設定問題，請聯繫我們的工作人員。</a:t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g409bec20cff_0_0"/>
          <p:cNvSpPr/>
          <p:nvPr/>
        </p:nvSpPr>
        <p:spPr>
          <a:xfrm>
            <a:off x="3035808" y="2125507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g409bec20cff_0_0"/>
          <p:cNvSpPr/>
          <p:nvPr/>
        </p:nvSpPr>
        <p:spPr>
          <a:xfrm>
            <a:off x="3035808" y="2519491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g409bec20cff_0_0"/>
          <p:cNvSpPr/>
          <p:nvPr/>
        </p:nvSpPr>
        <p:spPr>
          <a:xfrm>
            <a:off x="347472" y="2715299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20260912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g409bec20cff_0_0"/>
          <p:cNvSpPr/>
          <p:nvPr/>
        </p:nvSpPr>
        <p:spPr>
          <a:xfrm>
            <a:off x="347472" y="3122099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桌號立牌背面亦提供 Wi-Fi 帳號及密碼。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g409bec20cff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g409bec20cff_0_0"/>
          <p:cNvSpPr/>
          <p:nvPr/>
        </p:nvSpPr>
        <p:spPr>
          <a:xfrm>
            <a:off x="3035808" y="3106095"/>
            <a:ext cx="210300" cy="210300"/>
          </a:xfrm>
          <a:prstGeom prst="ellipse">
            <a:avLst/>
          </a:prstGeom>
          <a:solidFill>
            <a:srgbClr val="FF5722"/>
          </a:solidFill>
          <a:ln cap="flat" cmpd="sng" w="12700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409bec20cff_0_0"/>
          <p:cNvSpPr/>
          <p:nvPr/>
        </p:nvSpPr>
        <p:spPr>
          <a:xfrm>
            <a:off x="3035808" y="3098243"/>
            <a:ext cx="210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g409bec20cff_0_0"/>
          <p:cNvSpPr/>
          <p:nvPr/>
        </p:nvSpPr>
        <p:spPr>
          <a:xfrm>
            <a:off x="3282175" y="3298323"/>
            <a:ext cx="235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Arial"/>
              <a:buNone/>
            </a:pPr>
            <a:r>
              <a:rPr lang="en" sz="1200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Credits 兌換完成後，將會自動匯入您的帳號。您可以至 ChatGPT「設定」→「使用量」 查看 credits 是否已成功匯入。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e999c044_0_280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ae999c044_0_280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開發方向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g3fae999c044_0_280"/>
          <p:cNvSpPr/>
          <p:nvPr/>
        </p:nvSpPr>
        <p:spPr>
          <a:xfrm>
            <a:off x="350525" y="1447800"/>
            <a:ext cx="2563200" cy="3182100"/>
          </a:xfrm>
          <a:prstGeom prst="rect">
            <a:avLst/>
          </a:prstGeom>
          <a:solidFill>
            <a:srgbClr val="0B1526"/>
          </a:solidFill>
          <a:ln cap="flat" cmpd="sng" w="9200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  <a:effectLst>
            <a:outerShdw blurRad="220984" rotWithShape="0" algn="bl" dir="8100000" dist="24554">
              <a:srgbClr val="000000">
                <a:alpha val="54900"/>
              </a:srgbClr>
            </a:outerShdw>
          </a:effectLst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ae999c044_0_280"/>
          <p:cNvSpPr/>
          <p:nvPr/>
        </p:nvSpPr>
        <p:spPr>
          <a:xfrm>
            <a:off x="350525" y="1447800"/>
            <a:ext cx="43800" cy="3182100"/>
          </a:xfrm>
          <a:prstGeom prst="rect">
            <a:avLst/>
          </a:prstGeom>
          <a:solidFill>
            <a:srgbClr val="00C2E0"/>
          </a:solidFill>
          <a:ln cap="flat" cmpd="sng" w="12275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ae999c044_0_280"/>
          <p:cNvSpPr/>
          <p:nvPr/>
        </p:nvSpPr>
        <p:spPr>
          <a:xfrm>
            <a:off x="2427777" y="1624587"/>
            <a:ext cx="353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870"/>
              <a:buFont typeface="Arial"/>
              <a:buNone/>
            </a:pPr>
            <a:r>
              <a:rPr b="1" i="0" lang="en" sz="1100" u="none" cap="none" strike="noStrike">
                <a:solidFill>
                  <a:srgbClr val="00C2E0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g3fae999c044_0_280"/>
          <p:cNvSpPr/>
          <p:nvPr/>
        </p:nvSpPr>
        <p:spPr>
          <a:xfrm>
            <a:off x="544991" y="1606908"/>
            <a:ext cx="18564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8"/>
              <a:buFont typeface="Arial Black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自主且具適應能力的 AI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g3fae999c044_0_280"/>
          <p:cNvSpPr/>
          <p:nvPr/>
        </p:nvSpPr>
        <p:spPr>
          <a:xfrm>
            <a:off x="544991" y="2172627"/>
            <a:ext cx="2174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rPr i="1"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能夠在不需持續人工監督的情況下，穩定運作的代理程式。</a:t>
            </a:r>
            <a:endParaRPr i="1"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t/>
            </a:r>
            <a:endParaRPr i="1" sz="900">
              <a:solidFill>
                <a:srgbClr val="7A8F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9" name="Google Shape;219;g3fae999c044_0_280"/>
          <p:cNvCxnSpPr/>
          <p:nvPr/>
        </p:nvCxnSpPr>
        <p:spPr>
          <a:xfrm>
            <a:off x="544991" y="2667631"/>
            <a:ext cx="2174400" cy="0"/>
          </a:xfrm>
          <a:prstGeom prst="straightConnector1">
            <a:avLst/>
          </a:prstGeom>
          <a:noFill/>
          <a:ln cap="flat" cmpd="sng" w="9200">
            <a:solidFill>
              <a:srgbClr val="00C2E0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g3fae999c044_0_280"/>
          <p:cNvSpPr/>
          <p:nvPr/>
        </p:nvSpPr>
        <p:spPr>
          <a:xfrm>
            <a:off x="544991" y="2756024"/>
            <a:ext cx="2174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773"/>
              <a:buFont typeface="Arial"/>
              <a:buNone/>
            </a:pPr>
            <a:r>
              <a:rPr b="1" lang="en" sz="1200">
                <a:solidFill>
                  <a:srgbClr val="00C2E0"/>
                </a:solidFill>
                <a:latin typeface="Open Sans"/>
                <a:ea typeface="Open Sans"/>
                <a:cs typeface="Open Sans"/>
                <a:sym typeface="Open Sans"/>
              </a:rPr>
              <a:t>我們期待看到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g3fae999c044_0_280"/>
          <p:cNvSpPr/>
          <p:nvPr/>
        </p:nvSpPr>
        <p:spPr>
          <a:xfrm>
            <a:off x="544991" y="3021205"/>
            <a:ext cx="21744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rPr lang="en" sz="1200">
                <a:solidFill>
                  <a:srgbClr val="E8EDF5"/>
                </a:solidFill>
                <a:latin typeface="Open Sans"/>
                <a:ea typeface="Open Sans"/>
                <a:cs typeface="Open Sans"/>
                <a:sym typeface="Open Sans"/>
              </a:rPr>
              <a:t>這個 Agent 是否值得信賴，能夠自主運作？而且是否會隨著運行次數增加而持續進步？</a:t>
            </a:r>
            <a:endParaRPr sz="1200">
              <a:solidFill>
                <a:srgbClr val="E8EDF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t/>
            </a:r>
            <a:endParaRPr sz="1100">
              <a:solidFill>
                <a:srgbClr val="E8EDF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g3fae999c044_0_280"/>
          <p:cNvSpPr/>
          <p:nvPr/>
        </p:nvSpPr>
        <p:spPr>
          <a:xfrm>
            <a:off x="3311715" y="1447800"/>
            <a:ext cx="2563200" cy="3182100"/>
          </a:xfrm>
          <a:prstGeom prst="rect">
            <a:avLst/>
          </a:prstGeom>
          <a:solidFill>
            <a:srgbClr val="0B1526"/>
          </a:solidFill>
          <a:ln cap="flat" cmpd="sng" w="9200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  <a:effectLst>
            <a:outerShdw blurRad="220984" rotWithShape="0" algn="bl" dir="8100000" dist="24554">
              <a:srgbClr val="000000">
                <a:alpha val="54900"/>
              </a:srgbClr>
            </a:outerShdw>
          </a:effectLst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ae999c044_0_280"/>
          <p:cNvSpPr/>
          <p:nvPr/>
        </p:nvSpPr>
        <p:spPr>
          <a:xfrm>
            <a:off x="3311715" y="1447800"/>
            <a:ext cx="43800" cy="3182100"/>
          </a:xfrm>
          <a:prstGeom prst="rect">
            <a:avLst/>
          </a:prstGeom>
          <a:solidFill>
            <a:srgbClr val="FF6030"/>
          </a:solidFill>
          <a:ln cap="flat" cmpd="sng" w="12275">
            <a:solidFill>
              <a:srgbClr val="FF6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ae999c044_0_280"/>
          <p:cNvSpPr/>
          <p:nvPr/>
        </p:nvSpPr>
        <p:spPr>
          <a:xfrm>
            <a:off x="5388967" y="1624587"/>
            <a:ext cx="353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6030"/>
              </a:buClr>
              <a:buSzPts val="870"/>
              <a:buFont typeface="Arial"/>
              <a:buNone/>
            </a:pPr>
            <a:r>
              <a:rPr b="1" i="0" lang="en" sz="1100" u="none" cap="none" strike="noStrike">
                <a:solidFill>
                  <a:srgbClr val="FF6030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g3fae999c044_0_280"/>
          <p:cNvSpPr/>
          <p:nvPr/>
        </p:nvSpPr>
        <p:spPr>
          <a:xfrm>
            <a:off x="3506181" y="1606908"/>
            <a:ext cx="18564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8"/>
              <a:buFont typeface="Arial Black"/>
              <a:buNone/>
            </a:pPr>
            <a:r>
              <a:rPr b="1" lang="en" sz="140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 原生產品與營運</a:t>
            </a:r>
            <a:endParaRPr i="0" sz="1408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g3fae999c044_0_280"/>
          <p:cNvSpPr/>
          <p:nvPr/>
        </p:nvSpPr>
        <p:spPr>
          <a:xfrm>
            <a:off x="3445350" y="2113786"/>
            <a:ext cx="2329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rPr i="1"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透過 AI 徹底重新設計的產品、服務與營運模式，或是過去根本無法實現的創新應用。</a:t>
            </a:r>
            <a:endParaRPr i="1"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t/>
            </a:r>
            <a:endParaRPr i="1" sz="900">
              <a:solidFill>
                <a:srgbClr val="7A8F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7" name="Google Shape;227;g3fae999c044_0_280"/>
          <p:cNvCxnSpPr/>
          <p:nvPr/>
        </p:nvCxnSpPr>
        <p:spPr>
          <a:xfrm>
            <a:off x="3506181" y="2755889"/>
            <a:ext cx="2174400" cy="0"/>
          </a:xfrm>
          <a:prstGeom prst="straightConnector1">
            <a:avLst/>
          </a:prstGeom>
          <a:noFill/>
          <a:ln cap="flat" cmpd="sng" w="9200">
            <a:solidFill>
              <a:srgbClr val="FF6030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g3fae999c044_0_280"/>
          <p:cNvSpPr/>
          <p:nvPr/>
        </p:nvSpPr>
        <p:spPr>
          <a:xfrm>
            <a:off x="3506181" y="2809960"/>
            <a:ext cx="2174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030"/>
              </a:buClr>
              <a:buSzPts val="773"/>
              <a:buFont typeface="Arial"/>
              <a:buNone/>
            </a:pPr>
            <a:r>
              <a:rPr b="1" lang="en" sz="1200">
                <a:solidFill>
                  <a:srgbClr val="FF6030"/>
                </a:solidFill>
                <a:latin typeface="Open Sans"/>
                <a:ea typeface="Open Sans"/>
                <a:cs typeface="Open Sans"/>
                <a:sym typeface="Open Sans"/>
              </a:rPr>
              <a:t>我們期待看到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g3fae999c044_0_280"/>
          <p:cNvSpPr/>
          <p:nvPr/>
        </p:nvSpPr>
        <p:spPr>
          <a:xfrm>
            <a:off x="3506181" y="3070237"/>
            <a:ext cx="21744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rPr lang="en" sz="1200">
                <a:solidFill>
                  <a:srgbClr val="E8EDF5"/>
                </a:solidFill>
                <a:latin typeface="Open Sans"/>
                <a:ea typeface="Open Sans"/>
                <a:cs typeface="Open Sans"/>
                <a:sym typeface="Open Sans"/>
              </a:rPr>
              <a:t>使用者或企業現在能夠做到哪些過去難以實際實現的事情？</a:t>
            </a:r>
            <a:endParaRPr sz="1200">
              <a:solidFill>
                <a:srgbClr val="E8EDF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t/>
            </a:r>
            <a:endParaRPr sz="1100">
              <a:solidFill>
                <a:srgbClr val="E8EDF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g3fae999c044_0_280"/>
          <p:cNvSpPr/>
          <p:nvPr/>
        </p:nvSpPr>
        <p:spPr>
          <a:xfrm>
            <a:off x="6264065" y="1447800"/>
            <a:ext cx="2563200" cy="3182100"/>
          </a:xfrm>
          <a:prstGeom prst="rect">
            <a:avLst/>
          </a:prstGeom>
          <a:solidFill>
            <a:srgbClr val="0B1526"/>
          </a:solidFill>
          <a:ln cap="flat" cmpd="sng" w="9200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  <a:effectLst>
            <a:outerShdw blurRad="220984" rotWithShape="0" algn="bl" dir="8100000" dist="24554">
              <a:srgbClr val="000000">
                <a:alpha val="54900"/>
              </a:srgbClr>
            </a:outerShdw>
          </a:effectLst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ae999c044_0_280"/>
          <p:cNvSpPr/>
          <p:nvPr/>
        </p:nvSpPr>
        <p:spPr>
          <a:xfrm>
            <a:off x="6264065" y="1447800"/>
            <a:ext cx="43800" cy="3182100"/>
          </a:xfrm>
          <a:prstGeom prst="rect">
            <a:avLst/>
          </a:prstGeom>
          <a:solidFill>
            <a:srgbClr val="00D4A0"/>
          </a:solidFill>
          <a:ln cap="flat" cmpd="sng" w="12275">
            <a:solidFill>
              <a:srgbClr val="00D4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ae999c044_0_280"/>
          <p:cNvSpPr/>
          <p:nvPr/>
        </p:nvSpPr>
        <p:spPr>
          <a:xfrm>
            <a:off x="8341317" y="1624587"/>
            <a:ext cx="353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4A0"/>
              </a:buClr>
              <a:buSzPts val="870"/>
              <a:buFont typeface="Arial"/>
              <a:buNone/>
            </a:pPr>
            <a:r>
              <a:rPr b="1" i="0" lang="en" sz="1100" u="none" cap="none" strike="noStrike">
                <a:solidFill>
                  <a:srgbClr val="00D4A0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 i="0" sz="1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g3fae999c044_0_280"/>
          <p:cNvSpPr/>
          <p:nvPr/>
        </p:nvSpPr>
        <p:spPr>
          <a:xfrm>
            <a:off x="6458531" y="1606908"/>
            <a:ext cx="18564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8"/>
              <a:buFont typeface="Arial Black"/>
              <a:buNone/>
            </a:pPr>
            <a:r>
              <a:rPr b="1" lang="en" sz="140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深度領域 AI</a:t>
            </a:r>
            <a:endParaRPr i="0" sz="1408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g3fae999c044_0_280"/>
          <p:cNvSpPr/>
          <p:nvPr/>
        </p:nvSpPr>
        <p:spPr>
          <a:xfrm>
            <a:off x="6458531" y="2172627"/>
            <a:ext cx="2174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rPr i="1"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反映專業人士實際工作方式的 AI，而非經過簡化的版本。</a:t>
            </a:r>
            <a:endParaRPr i="1"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7A8FA8"/>
              </a:buClr>
              <a:buSzPts val="870"/>
              <a:buFont typeface="Arial"/>
              <a:buNone/>
            </a:pPr>
            <a:r>
              <a:t/>
            </a:r>
            <a:endParaRPr i="1" sz="900">
              <a:solidFill>
                <a:srgbClr val="7A8F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5" name="Google Shape;235;g3fae999c044_0_280"/>
          <p:cNvCxnSpPr/>
          <p:nvPr/>
        </p:nvCxnSpPr>
        <p:spPr>
          <a:xfrm>
            <a:off x="6458531" y="2667631"/>
            <a:ext cx="2174400" cy="0"/>
          </a:xfrm>
          <a:prstGeom prst="straightConnector1">
            <a:avLst/>
          </a:prstGeom>
          <a:noFill/>
          <a:ln cap="flat" cmpd="sng" w="9200">
            <a:solidFill>
              <a:srgbClr val="00D4A0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g3fae999c044_0_280"/>
          <p:cNvSpPr/>
          <p:nvPr/>
        </p:nvSpPr>
        <p:spPr>
          <a:xfrm>
            <a:off x="6458531" y="2756024"/>
            <a:ext cx="2174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0"/>
              </a:buClr>
              <a:buSzPts val="773"/>
              <a:buFont typeface="Arial"/>
              <a:buNone/>
            </a:pPr>
            <a:r>
              <a:rPr b="1" lang="en" sz="1200">
                <a:solidFill>
                  <a:srgbClr val="00D4A0"/>
                </a:solidFill>
                <a:latin typeface="Open Sans"/>
                <a:ea typeface="Open Sans"/>
                <a:cs typeface="Open Sans"/>
                <a:sym typeface="Open Sans"/>
              </a:rPr>
              <a:t>我們期待看到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g3fae999c044_0_280"/>
          <p:cNvSpPr/>
          <p:nvPr/>
        </p:nvSpPr>
        <p:spPr>
          <a:xfrm>
            <a:off x="6458531" y="3021205"/>
            <a:ext cx="21744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rPr lang="en" sz="1200">
                <a:solidFill>
                  <a:srgbClr val="E8EDF5"/>
                </a:solidFill>
                <a:latin typeface="Open Sans"/>
                <a:ea typeface="Open Sans"/>
                <a:cs typeface="Open Sans"/>
                <a:sym typeface="Open Sans"/>
              </a:rPr>
              <a:t>領域專家會信任這個 Agent 來執行他們的工作嗎？</a:t>
            </a:r>
            <a:endParaRPr sz="1200">
              <a:solidFill>
                <a:srgbClr val="E8EDF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5"/>
              </a:buClr>
              <a:buSzPts val="1305"/>
              <a:buFont typeface="Arial"/>
              <a:buNone/>
            </a:pPr>
            <a:r>
              <a:t/>
            </a:r>
            <a:endParaRPr sz="1100">
              <a:solidFill>
                <a:srgbClr val="E8EDF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g3fae999c044_0_2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ae999c044_0_351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ae999c044_0_351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評分標準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g3fae999c044_0_351"/>
          <p:cNvSpPr/>
          <p:nvPr/>
        </p:nvSpPr>
        <p:spPr>
          <a:xfrm>
            <a:off x="365760" y="1444752"/>
            <a:ext cx="2743200" cy="1600200"/>
          </a:xfrm>
          <a:prstGeom prst="rect">
            <a:avLst/>
          </a:prstGeom>
          <a:solidFill>
            <a:srgbClr val="FFFFFF">
              <a:alpha val="392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ae999c044_0_351"/>
          <p:cNvSpPr/>
          <p:nvPr/>
        </p:nvSpPr>
        <p:spPr>
          <a:xfrm>
            <a:off x="365760" y="1444752"/>
            <a:ext cx="2743200" cy="41100"/>
          </a:xfrm>
          <a:prstGeom prst="rect">
            <a:avLst/>
          </a:prstGeom>
          <a:solidFill>
            <a:srgbClr val="FF5520"/>
          </a:solidFill>
          <a:ln cap="flat" cmpd="sng" w="12700">
            <a:solidFill>
              <a:srgbClr val="FF55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ae999c044_0_351"/>
          <p:cNvSpPr/>
          <p:nvPr/>
        </p:nvSpPr>
        <p:spPr>
          <a:xfrm>
            <a:off x="493776" y="1536192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1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g3fae999c044_0_351"/>
          <p:cNvSpPr/>
          <p:nvPr/>
        </p:nvSpPr>
        <p:spPr>
          <a:xfrm>
            <a:off x="493776" y="1709928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問題與解決方案適切性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g3fae999c044_0_351"/>
          <p:cNvSpPr/>
          <p:nvPr/>
        </p:nvSpPr>
        <p:spPr>
          <a:xfrm>
            <a:off x="493776" y="2066544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200"/>
              <a:buFont typeface="Open Sans"/>
              <a:buChar char="●"/>
            </a:pPr>
            <a:r>
              <a:rPr b="1" lang="en" sz="1200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問題是否具備真實需求？</a:t>
            </a:r>
            <a:endParaRPr b="1" sz="1200">
              <a:solidFill>
                <a:srgbClr val="8AAAC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200"/>
              <a:buFont typeface="Open Sans"/>
              <a:buChar char="●"/>
            </a:pPr>
            <a:r>
              <a:rPr b="1" lang="en" sz="1200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提出的解決方案是否能有效回應問題？</a:t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g3fae999c044_0_351"/>
          <p:cNvSpPr/>
          <p:nvPr/>
        </p:nvSpPr>
        <p:spPr>
          <a:xfrm>
            <a:off x="3218688" y="1444752"/>
            <a:ext cx="2743200" cy="1600200"/>
          </a:xfrm>
          <a:prstGeom prst="rect">
            <a:avLst/>
          </a:prstGeom>
          <a:solidFill>
            <a:srgbClr val="FFFFFF">
              <a:alpha val="392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ae999c044_0_351"/>
          <p:cNvSpPr/>
          <p:nvPr/>
        </p:nvSpPr>
        <p:spPr>
          <a:xfrm>
            <a:off x="3218688" y="1444752"/>
            <a:ext cx="2743200" cy="41100"/>
          </a:xfrm>
          <a:prstGeom prst="rect">
            <a:avLst/>
          </a:prstGeom>
          <a:solidFill>
            <a:srgbClr val="3AB5F0"/>
          </a:solidFill>
          <a:ln cap="flat" cmpd="sng" w="12700">
            <a:solidFill>
              <a:srgbClr val="3AB5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ae999c044_0_351"/>
          <p:cNvSpPr/>
          <p:nvPr/>
        </p:nvSpPr>
        <p:spPr>
          <a:xfrm>
            <a:off x="3346704" y="1536192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b="1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g3fae999c044_0_351"/>
          <p:cNvSpPr/>
          <p:nvPr/>
        </p:nvSpPr>
        <p:spPr>
          <a:xfrm>
            <a:off x="3346704" y="1709928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開發品質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g3fae999c044_0_351"/>
          <p:cNvSpPr/>
          <p:nvPr/>
        </p:nvSpPr>
        <p:spPr>
          <a:xfrm>
            <a:off x="3346704" y="2066544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200"/>
              <a:buFont typeface="Open Sans"/>
              <a:buChar char="●"/>
            </a:pPr>
            <a:r>
              <a:rPr b="1" lang="en" sz="1200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解決方案是否實際可運作，並能在使用情境下維持穩定？</a:t>
            </a:r>
            <a:endParaRPr b="1" sz="1200">
              <a:solidFill>
                <a:srgbClr val="8AAAC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200"/>
              <a:buFont typeface="Open Sans"/>
              <a:buChar char="●"/>
            </a:pPr>
            <a:r>
              <a:rPr b="1" lang="en" sz="1200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評估重點在產品、程式開發與可靠性，而非簡報表現。</a:t>
            </a:r>
            <a:endParaRPr b="1" sz="1200">
              <a:solidFill>
                <a:srgbClr val="8AAA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g3fae999c044_0_351"/>
          <p:cNvSpPr/>
          <p:nvPr/>
        </p:nvSpPr>
        <p:spPr>
          <a:xfrm>
            <a:off x="6071616" y="1444752"/>
            <a:ext cx="2743200" cy="1600200"/>
          </a:xfrm>
          <a:prstGeom prst="rect">
            <a:avLst/>
          </a:prstGeom>
          <a:solidFill>
            <a:srgbClr val="FFFFFF">
              <a:alpha val="392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ae999c044_0_351"/>
          <p:cNvSpPr/>
          <p:nvPr/>
        </p:nvSpPr>
        <p:spPr>
          <a:xfrm>
            <a:off x="6071616" y="1444752"/>
            <a:ext cx="2743200" cy="41100"/>
          </a:xfrm>
          <a:prstGeom prst="rect">
            <a:avLst/>
          </a:prstGeom>
          <a:solidFill>
            <a:srgbClr val="31D990"/>
          </a:solidFill>
          <a:ln cap="flat" cmpd="sng" w="12700">
            <a:solidFill>
              <a:srgbClr val="31D9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ae999c044_0_351"/>
          <p:cNvSpPr/>
          <p:nvPr/>
        </p:nvSpPr>
        <p:spPr>
          <a:xfrm>
            <a:off x="6199632" y="1536192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 b="1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g3fae999c044_0_351"/>
          <p:cNvSpPr/>
          <p:nvPr/>
        </p:nvSpPr>
        <p:spPr>
          <a:xfrm>
            <a:off x="6199632" y="1709928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洞察與創新性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g3fae999c044_0_351"/>
          <p:cNvSpPr/>
          <p:nvPr/>
        </p:nvSpPr>
        <p:spPr>
          <a:xfrm>
            <a:off x="6199632" y="2066544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200"/>
              <a:buFont typeface="Open Sans"/>
              <a:buChar char="●"/>
            </a:pPr>
            <a:r>
              <a:rPr b="1" lang="en" sz="1200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解決方案是否具備獨到的洞察與創新性，而非僅採用業界常見的做法？</a:t>
            </a:r>
            <a:endParaRPr b="1" sz="1200">
              <a:solidFill>
                <a:srgbClr val="8AAA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g3fae999c044_0_351"/>
          <p:cNvSpPr/>
          <p:nvPr/>
        </p:nvSpPr>
        <p:spPr>
          <a:xfrm>
            <a:off x="365760" y="3154680"/>
            <a:ext cx="2743200" cy="1600200"/>
          </a:xfrm>
          <a:prstGeom prst="rect">
            <a:avLst/>
          </a:prstGeom>
          <a:solidFill>
            <a:srgbClr val="FFFFFF">
              <a:alpha val="392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ae999c044_0_351"/>
          <p:cNvSpPr/>
          <p:nvPr/>
        </p:nvSpPr>
        <p:spPr>
          <a:xfrm>
            <a:off x="365760" y="3154680"/>
            <a:ext cx="2743200" cy="41100"/>
          </a:xfrm>
          <a:prstGeom prst="rect">
            <a:avLst/>
          </a:prstGeom>
          <a:solidFill>
            <a:srgbClr val="F7521F"/>
          </a:solidFill>
          <a:ln cap="flat" cmpd="sng" w="12700">
            <a:solidFill>
              <a:srgbClr val="F45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ae999c044_0_351"/>
          <p:cNvSpPr/>
          <p:nvPr/>
        </p:nvSpPr>
        <p:spPr>
          <a:xfrm>
            <a:off x="493776" y="32461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g3fae999c044_0_351"/>
          <p:cNvSpPr/>
          <p:nvPr/>
        </p:nvSpPr>
        <p:spPr>
          <a:xfrm>
            <a:off x="493776" y="3419856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實際應用價值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g3fae999c044_0_351"/>
          <p:cNvSpPr/>
          <p:nvPr/>
        </p:nvSpPr>
        <p:spPr>
          <a:xfrm>
            <a:off x="493776" y="3776472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200"/>
              <a:buFont typeface="Open Sans"/>
              <a:buChar char="●"/>
            </a:pPr>
            <a:r>
              <a:rPr b="1" lang="en" sz="1200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根據實際運作的 Demo，評估解決方案能為哪些對象帶來效益，以及其商業價值或實際影響程度。</a:t>
            </a:r>
            <a:endParaRPr b="1" sz="1200">
              <a:solidFill>
                <a:srgbClr val="8AAA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g3fae999c044_0_351"/>
          <p:cNvSpPr/>
          <p:nvPr/>
        </p:nvSpPr>
        <p:spPr>
          <a:xfrm>
            <a:off x="3218688" y="3154680"/>
            <a:ext cx="2743200" cy="1600200"/>
          </a:xfrm>
          <a:prstGeom prst="rect">
            <a:avLst/>
          </a:prstGeom>
          <a:solidFill>
            <a:srgbClr val="FFFFFF">
              <a:alpha val="392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ae999c044_0_351"/>
          <p:cNvSpPr/>
          <p:nvPr/>
        </p:nvSpPr>
        <p:spPr>
          <a:xfrm>
            <a:off x="3218688" y="3154680"/>
            <a:ext cx="2743200" cy="41100"/>
          </a:xfrm>
          <a:prstGeom prst="rect">
            <a:avLst/>
          </a:prstGeom>
          <a:solidFill>
            <a:srgbClr val="38AFE8"/>
          </a:solidFill>
          <a:ln cap="flat" cmpd="sng" w="12700">
            <a:solidFill>
              <a:srgbClr val="38AFE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ae999c044_0_351"/>
          <p:cNvSpPr/>
          <p:nvPr/>
        </p:nvSpPr>
        <p:spPr>
          <a:xfrm>
            <a:off x="3346704" y="32461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g3fae999c044_0_351"/>
          <p:cNvSpPr/>
          <p:nvPr/>
        </p:nvSpPr>
        <p:spPr>
          <a:xfrm>
            <a:off x="3346704" y="3419856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開發方向契合度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g3fae999c044_0_351"/>
          <p:cNvSpPr/>
          <p:nvPr/>
        </p:nvSpPr>
        <p:spPr>
          <a:xfrm>
            <a:off x="3346704" y="3776472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200"/>
              <a:buFont typeface="Open Sans"/>
              <a:buChar char="●"/>
            </a:pPr>
            <a:r>
              <a:rPr b="1" lang="en" sz="1200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此解決方案是否充分體現至少一項開發方向—自主且具適應能力的 AI、AI 原生產品與營運，或深度領域 AI？解決方案可同時涵蓋多項方向。</a:t>
            </a:r>
            <a:endParaRPr b="1" sz="1200">
              <a:solidFill>
                <a:srgbClr val="8AAA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g3fae999c044_0_351"/>
          <p:cNvSpPr/>
          <p:nvPr/>
        </p:nvSpPr>
        <p:spPr>
          <a:xfrm>
            <a:off x="6071616" y="3154680"/>
            <a:ext cx="2743200" cy="1600200"/>
          </a:xfrm>
          <a:prstGeom prst="rect">
            <a:avLst/>
          </a:prstGeom>
          <a:solidFill>
            <a:srgbClr val="FFFFFF">
              <a:alpha val="3920"/>
            </a:srgbClr>
          </a:solidFill>
          <a:ln cap="flat" cmpd="sng" w="12700">
            <a:solidFill>
              <a:srgbClr val="FFFFFF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ae999c044_0_351"/>
          <p:cNvSpPr/>
          <p:nvPr/>
        </p:nvSpPr>
        <p:spPr>
          <a:xfrm>
            <a:off x="6071616" y="3154680"/>
            <a:ext cx="2743200" cy="41100"/>
          </a:xfrm>
          <a:prstGeom prst="rect">
            <a:avLst/>
          </a:prstGeom>
          <a:solidFill>
            <a:srgbClr val="2FD28B"/>
          </a:solidFill>
          <a:ln cap="flat" cmpd="sng" w="12700">
            <a:solidFill>
              <a:srgbClr val="2FD2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ae999c044_0_351"/>
          <p:cNvSpPr/>
          <p:nvPr/>
        </p:nvSpPr>
        <p:spPr>
          <a:xfrm>
            <a:off x="6199632" y="32461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688"/>
              </a:buClr>
              <a:buSzPts val="850"/>
              <a:buFont typeface="Calibri"/>
              <a:buNone/>
            </a:pPr>
            <a:r>
              <a:rPr b="1" i="0" lang="en" sz="900" u="none" cap="none" strike="noStrike">
                <a:solidFill>
                  <a:srgbClr val="556688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  <a:endParaRPr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g3fae999c044_0_351"/>
          <p:cNvSpPr/>
          <p:nvPr/>
        </p:nvSpPr>
        <p:spPr>
          <a:xfrm>
            <a:off x="6199632" y="3419856"/>
            <a:ext cx="252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Codex</a:t>
            </a: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應用深度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g3fae999c044_0_351"/>
          <p:cNvSpPr/>
          <p:nvPr/>
        </p:nvSpPr>
        <p:spPr>
          <a:xfrm>
            <a:off x="6199632" y="3776472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AAACC"/>
              </a:buClr>
              <a:buSzPts val="1200"/>
              <a:buFont typeface="Open Sans"/>
              <a:buChar char="●"/>
            </a:pPr>
            <a:r>
              <a:rPr b="1" lang="en" sz="1200">
                <a:solidFill>
                  <a:srgbClr val="8AAACC"/>
                </a:solidFill>
                <a:latin typeface="Open Sans"/>
                <a:ea typeface="Open Sans"/>
                <a:cs typeface="Open Sans"/>
                <a:sym typeface="Open Sans"/>
              </a:rPr>
              <a:t>Codex 在本次開發過程中被運用的深度如何？</a:t>
            </a:r>
            <a:endParaRPr b="1" sz="1200">
              <a:solidFill>
                <a:srgbClr val="8AAA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g3fae999c044_0_3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ae999c044_0_428"/>
          <p:cNvSpPr/>
          <p:nvPr/>
        </p:nvSpPr>
        <p:spPr>
          <a:xfrm>
            <a:off x="628650" y="4343400"/>
            <a:ext cx="7866300" cy="302700"/>
          </a:xfrm>
          <a:prstGeom prst="roundRect">
            <a:avLst>
              <a:gd fmla="val 13793" name="adj"/>
            </a:avLst>
          </a:prstGeom>
          <a:solidFill>
            <a:srgbClr val="24110C"/>
          </a:solidFill>
          <a:ln cap="flat" cmpd="sng" w="10525">
            <a:solidFill>
              <a:srgbClr val="FF74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ae999c044_0_428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ae999c044_0_428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黑客松規則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g3fae999c044_0_428"/>
          <p:cNvSpPr/>
          <p:nvPr/>
        </p:nvSpPr>
        <p:spPr>
          <a:xfrm>
            <a:off x="671225" y="1553125"/>
            <a:ext cx="3785100" cy="2574300"/>
          </a:xfrm>
          <a:prstGeom prst="roundRect">
            <a:avLst>
              <a:gd fmla="val 2424" name="adj"/>
            </a:avLst>
          </a:prstGeom>
          <a:solidFill>
            <a:srgbClr val="0A0D12"/>
          </a:solidFill>
          <a:ln cap="flat" cmpd="sng" w="9075">
            <a:solidFill>
              <a:srgbClr val="25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3"/>
          </a:p>
        </p:txBody>
      </p:sp>
      <p:sp>
        <p:nvSpPr>
          <p:cNvPr id="284" name="Google Shape;284;g3fae999c044_0_428"/>
          <p:cNvSpPr/>
          <p:nvPr/>
        </p:nvSpPr>
        <p:spPr>
          <a:xfrm>
            <a:off x="792345" y="1734804"/>
            <a:ext cx="45600" cy="212100"/>
          </a:xfrm>
          <a:prstGeom prst="rect">
            <a:avLst/>
          </a:prstGeom>
          <a:solidFill>
            <a:srgbClr val="4E88FF"/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ae999c044_0_428"/>
          <p:cNvSpPr/>
          <p:nvPr/>
        </p:nvSpPr>
        <p:spPr>
          <a:xfrm>
            <a:off x="939181" y="1744358"/>
            <a:ext cx="2908800" cy="696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E88FF"/>
                </a:solidFill>
                <a:latin typeface="Open Sans"/>
                <a:ea typeface="Open Sans"/>
                <a:cs typeface="Open Sans"/>
                <a:sym typeface="Open Sans"/>
              </a:rPr>
              <a:t>所有作品皆須於現場完成。</a:t>
            </a:r>
            <a:endParaRPr b="1">
              <a:solidFill>
                <a:srgbClr val="4E88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g3fae999c044_0_428"/>
          <p:cNvSpPr/>
          <p:nvPr/>
        </p:nvSpPr>
        <p:spPr>
          <a:xfrm>
            <a:off x="792345" y="2347569"/>
            <a:ext cx="1362600" cy="166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6BEC9"/>
                </a:solidFill>
                <a:latin typeface="Open Sans"/>
                <a:ea typeface="Open Sans"/>
                <a:cs typeface="Open Sans"/>
                <a:sym typeface="Open Sans"/>
              </a:rPr>
              <a:t>您可以選擇：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g3fae999c044_0_428"/>
          <p:cNvSpPr/>
          <p:nvPr/>
        </p:nvSpPr>
        <p:spPr>
          <a:xfrm>
            <a:off x="792353" y="2707196"/>
            <a:ext cx="1650600" cy="933600"/>
          </a:xfrm>
          <a:prstGeom prst="roundRect">
            <a:avLst>
              <a:gd fmla="val 8333" name="adj"/>
            </a:avLst>
          </a:prstGeom>
          <a:solidFill>
            <a:srgbClr val="0F141C"/>
          </a:solidFill>
          <a:ln cap="flat" cmpd="sng" w="7575">
            <a:solidFill>
              <a:srgbClr val="1F35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ae999c044_0_428"/>
          <p:cNvSpPr/>
          <p:nvPr/>
        </p:nvSpPr>
        <p:spPr>
          <a:xfrm>
            <a:off x="928605" y="2782910"/>
            <a:ext cx="333000" cy="197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9">
                <a:solidFill>
                  <a:srgbClr val="4E88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sz="1239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g3fae999c044_0_428"/>
          <p:cNvSpPr/>
          <p:nvPr/>
        </p:nvSpPr>
        <p:spPr>
          <a:xfrm>
            <a:off x="928605" y="3051711"/>
            <a:ext cx="1332300" cy="302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從零開始開發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g3fae999c044_0_428"/>
          <p:cNvSpPr/>
          <p:nvPr/>
        </p:nvSpPr>
        <p:spPr>
          <a:xfrm>
            <a:off x="2578876" y="2707197"/>
            <a:ext cx="1756200" cy="933600"/>
          </a:xfrm>
          <a:prstGeom prst="roundRect">
            <a:avLst>
              <a:gd fmla="val 8333" name="adj"/>
            </a:avLst>
          </a:prstGeom>
          <a:solidFill>
            <a:srgbClr val="13110F"/>
          </a:solidFill>
          <a:ln cap="flat" cmpd="sng" w="7575">
            <a:solidFill>
              <a:srgbClr val="5F2E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ae999c044_0_428"/>
          <p:cNvSpPr/>
          <p:nvPr/>
        </p:nvSpPr>
        <p:spPr>
          <a:xfrm>
            <a:off x="2715126" y="2782910"/>
            <a:ext cx="333000" cy="197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9">
                <a:solidFill>
                  <a:srgbClr val="FF7442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sz="1239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g3fae999c044_0_428"/>
          <p:cNvSpPr/>
          <p:nvPr/>
        </p:nvSpPr>
        <p:spPr>
          <a:xfrm>
            <a:off x="2715126" y="3005466"/>
            <a:ext cx="1438200" cy="318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以既有的個人專案或開源專案為基礎進行開發</a:t>
            </a:r>
            <a:endParaRPr b="1" sz="123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3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3" name="Google Shape;293;g3fae999c044_0_4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926" y="2067883"/>
            <a:ext cx="211959" cy="211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fae999c044_0_4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0554" y="2081003"/>
            <a:ext cx="225838" cy="22583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fae999c044_0_428"/>
          <p:cNvSpPr/>
          <p:nvPr/>
        </p:nvSpPr>
        <p:spPr>
          <a:xfrm>
            <a:off x="4709825" y="1544002"/>
            <a:ext cx="3785100" cy="2574300"/>
          </a:xfrm>
          <a:prstGeom prst="roundRect">
            <a:avLst>
              <a:gd fmla="val 2424" name="adj"/>
            </a:avLst>
          </a:prstGeom>
          <a:solidFill>
            <a:srgbClr val="0A0D12"/>
          </a:solidFill>
          <a:ln cap="flat" cmpd="sng" w="9075">
            <a:solidFill>
              <a:srgbClr val="253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3"/>
          </a:p>
        </p:txBody>
      </p:sp>
      <p:sp>
        <p:nvSpPr>
          <p:cNvPr id="296" name="Google Shape;296;g3fae999c044_0_428"/>
          <p:cNvSpPr/>
          <p:nvPr/>
        </p:nvSpPr>
        <p:spPr>
          <a:xfrm>
            <a:off x="4977781" y="1735235"/>
            <a:ext cx="2908800" cy="696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E88FF"/>
                </a:solidFill>
                <a:latin typeface="Open Sans"/>
                <a:ea typeface="Open Sans"/>
                <a:cs typeface="Open Sans"/>
                <a:sym typeface="Open Sans"/>
              </a:rPr>
              <a:t>在既有專案基礎上進行開發</a:t>
            </a:r>
            <a:endParaRPr b="1">
              <a:solidFill>
                <a:srgbClr val="4E88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7" name="Google Shape;297;g3fae999c044_0_4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3526" y="2058761"/>
            <a:ext cx="211959" cy="21195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ae999c044_0_428"/>
          <p:cNvSpPr/>
          <p:nvPr/>
        </p:nvSpPr>
        <p:spPr>
          <a:xfrm>
            <a:off x="4830945" y="1712126"/>
            <a:ext cx="45600" cy="212100"/>
          </a:xfrm>
          <a:prstGeom prst="rect">
            <a:avLst/>
          </a:prstGeom>
          <a:solidFill>
            <a:srgbClr val="4E88FF"/>
          </a:solidFill>
          <a:ln cap="flat" cmpd="sng" w="757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675" lIns="72675" spcFirstLastPara="1" rIns="72675" wrap="square" tIns="72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ae999c044_0_428"/>
          <p:cNvSpPr/>
          <p:nvPr/>
        </p:nvSpPr>
        <p:spPr>
          <a:xfrm>
            <a:off x="4813815" y="2065947"/>
            <a:ext cx="3237000" cy="436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僅在符合以下條件時允許：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g3fae999c044_0_428"/>
          <p:cNvSpPr/>
          <p:nvPr/>
        </p:nvSpPr>
        <p:spPr>
          <a:xfrm>
            <a:off x="4797839" y="2466935"/>
            <a:ext cx="105600" cy="105600"/>
          </a:xfrm>
          <a:prstGeom prst="ellipse">
            <a:avLst/>
          </a:prstGeom>
          <a:solidFill>
            <a:srgbClr val="31D6FF"/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ae999c044_0_428"/>
          <p:cNvSpPr/>
          <p:nvPr/>
        </p:nvSpPr>
        <p:spPr>
          <a:xfrm>
            <a:off x="5008621" y="2421768"/>
            <a:ext cx="3448200" cy="256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新增加的功能必須具備</a:t>
            </a: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重大且實質性的改動</a:t>
            </a: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。評審僅會針對黑客松期間完成的作品內容進行評分。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g3fae999c044_0_428"/>
          <p:cNvSpPr/>
          <p:nvPr/>
        </p:nvSpPr>
        <p:spPr>
          <a:xfrm>
            <a:off x="4797839" y="2905398"/>
            <a:ext cx="105600" cy="105600"/>
          </a:xfrm>
          <a:prstGeom prst="ellipse">
            <a:avLst/>
          </a:prstGeom>
          <a:solidFill>
            <a:srgbClr val="4E88FF"/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ae999c044_0_428"/>
          <p:cNvSpPr/>
          <p:nvPr/>
        </p:nvSpPr>
        <p:spPr>
          <a:xfrm>
            <a:off x="5008621" y="2860230"/>
            <a:ext cx="3448200" cy="256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於</a:t>
            </a: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新的公開儲存庫（public repository）</a:t>
            </a: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中開發。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g3fae999c044_0_428"/>
          <p:cNvSpPr/>
          <p:nvPr/>
        </p:nvSpPr>
        <p:spPr>
          <a:xfrm>
            <a:off x="4797839" y="3191461"/>
            <a:ext cx="105600" cy="105600"/>
          </a:xfrm>
          <a:prstGeom prst="ellipse">
            <a:avLst/>
          </a:prstGeom>
          <a:solidFill>
            <a:srgbClr val="FF7442"/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fae999c044_0_428"/>
          <p:cNvSpPr/>
          <p:nvPr/>
        </p:nvSpPr>
        <p:spPr>
          <a:xfrm>
            <a:off x="5008621" y="3146293"/>
            <a:ext cx="3448200" cy="256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須在 README 及作品提交表單中提供既有儲存庫的連結。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g3fae999c044_0_428"/>
          <p:cNvSpPr/>
          <p:nvPr/>
        </p:nvSpPr>
        <p:spPr>
          <a:xfrm>
            <a:off x="4797839" y="3629924"/>
            <a:ext cx="105600" cy="105600"/>
          </a:xfrm>
          <a:prstGeom prst="ellipse">
            <a:avLst/>
          </a:prstGeom>
          <a:solidFill>
            <a:srgbClr val="31D6FF"/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ae999c044_0_428"/>
          <p:cNvSpPr/>
          <p:nvPr/>
        </p:nvSpPr>
        <p:spPr>
          <a:xfrm>
            <a:off x="5008621" y="3584756"/>
            <a:ext cx="3448200" cy="256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須在 README 及作品提交表單中清楚說明黑客松期間完成的開發內容。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g3fae999c044_0_428"/>
          <p:cNvSpPr/>
          <p:nvPr/>
        </p:nvSpPr>
        <p:spPr>
          <a:xfrm>
            <a:off x="2455376" y="4398700"/>
            <a:ext cx="4731900" cy="210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7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任何違反上述規則的行為，皆可能導致參賽資格遭取消。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9" name="Google Shape;309;g3fae999c044_0_4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ae999c044_0_502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fae999c044_0_502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提交內容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g3fae999c044_0_502"/>
          <p:cNvSpPr/>
          <p:nvPr/>
        </p:nvSpPr>
        <p:spPr>
          <a:xfrm>
            <a:off x="935275" y="1417975"/>
            <a:ext cx="7737000" cy="462000"/>
          </a:xfrm>
          <a:prstGeom prst="rect">
            <a:avLst/>
          </a:prstGeom>
          <a:solidFill>
            <a:srgbClr val="FF5722">
              <a:alpha val="46840"/>
            </a:srgbClr>
          </a:solidFill>
          <a:ln cap="flat" cmpd="sng" w="11675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ae999c044_0_502"/>
          <p:cNvSpPr/>
          <p:nvPr/>
        </p:nvSpPr>
        <p:spPr>
          <a:xfrm>
            <a:off x="935275" y="2048010"/>
            <a:ext cx="1764300" cy="2688300"/>
          </a:xfrm>
          <a:prstGeom prst="rect">
            <a:avLst/>
          </a:prstGeom>
          <a:solidFill>
            <a:srgbClr val="13131F"/>
          </a:solidFill>
          <a:ln cap="flat" cmpd="sng" w="11675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16674" rotWithShape="0" algn="bl" dir="8100000" dist="35002">
              <a:srgbClr val="000000">
                <a:alpha val="45100"/>
              </a:srgbClr>
            </a:outerShdw>
          </a:effectLst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ae999c044_0_502"/>
          <p:cNvSpPr/>
          <p:nvPr/>
        </p:nvSpPr>
        <p:spPr>
          <a:xfrm>
            <a:off x="935275" y="2048010"/>
            <a:ext cx="1764300" cy="50400"/>
          </a:xfrm>
          <a:prstGeom prst="rect">
            <a:avLst/>
          </a:prstGeom>
          <a:solidFill>
            <a:srgbClr val="00CFFF"/>
          </a:solidFill>
          <a:ln cap="flat" cmpd="sng" w="11675">
            <a:solidFill>
              <a:srgbClr val="00C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ae999c044_0_502"/>
          <p:cNvSpPr/>
          <p:nvPr/>
        </p:nvSpPr>
        <p:spPr>
          <a:xfrm>
            <a:off x="1069683" y="2199220"/>
            <a:ext cx="294300" cy="234900"/>
          </a:xfrm>
          <a:prstGeom prst="rect">
            <a:avLst/>
          </a:prstGeom>
          <a:solidFill>
            <a:srgbClr val="00CFFF">
              <a:alpha val="18040"/>
            </a:srgbClr>
          </a:solidFill>
          <a:ln cap="flat" cmpd="sng" w="11675">
            <a:solidFill>
              <a:srgbClr val="00C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ae999c044_0_502"/>
          <p:cNvSpPr/>
          <p:nvPr/>
        </p:nvSpPr>
        <p:spPr>
          <a:xfrm>
            <a:off x="1069683" y="2199220"/>
            <a:ext cx="29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FFF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00C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ae999c044_0_502"/>
          <p:cNvSpPr/>
          <p:nvPr/>
        </p:nvSpPr>
        <p:spPr>
          <a:xfrm>
            <a:off x="1052882" y="2762058"/>
            <a:ext cx="15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Arial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GitHub </a:t>
            </a: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儲存庫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2" name="Google Shape;322;g3fae999c044_0_502"/>
          <p:cNvCxnSpPr/>
          <p:nvPr/>
        </p:nvCxnSpPr>
        <p:spPr>
          <a:xfrm>
            <a:off x="1052882" y="3257690"/>
            <a:ext cx="1528800" cy="0"/>
          </a:xfrm>
          <a:prstGeom prst="straightConnector1">
            <a:avLst/>
          </a:prstGeom>
          <a:noFill/>
          <a:ln cap="flat" cmpd="sng" w="11675">
            <a:solidFill>
              <a:srgbClr val="2A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g3fae999c044_0_502"/>
          <p:cNvSpPr/>
          <p:nvPr/>
        </p:nvSpPr>
        <p:spPr>
          <a:xfrm>
            <a:off x="1052882" y="3358497"/>
            <a:ext cx="15288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rPr b="1" lang="en" sz="1200">
                <a:solidFill>
                  <a:srgbClr val="AAAACC"/>
                </a:solidFill>
                <a:latin typeface="Open Sans"/>
                <a:ea typeface="Open Sans"/>
                <a:cs typeface="Open Sans"/>
                <a:sym typeface="Open Sans"/>
              </a:rPr>
              <a:t>為本次黑客松建立新的公開儲存庫</a:t>
            </a:r>
            <a:endParaRPr b="1" sz="1200">
              <a:solidFill>
                <a:srgbClr val="AAAA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g3fae999c044_0_502"/>
          <p:cNvSpPr/>
          <p:nvPr/>
        </p:nvSpPr>
        <p:spPr>
          <a:xfrm>
            <a:off x="2926198" y="2048010"/>
            <a:ext cx="1764300" cy="2688300"/>
          </a:xfrm>
          <a:prstGeom prst="rect">
            <a:avLst/>
          </a:prstGeom>
          <a:solidFill>
            <a:srgbClr val="13131F"/>
          </a:solidFill>
          <a:ln cap="flat" cmpd="sng" w="11675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16674" rotWithShape="0" algn="bl" dir="8100000" dist="35002">
              <a:srgbClr val="000000">
                <a:alpha val="45100"/>
              </a:srgbClr>
            </a:outerShdw>
          </a:effectLst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6"/>
          </a:p>
        </p:txBody>
      </p:sp>
      <p:sp>
        <p:nvSpPr>
          <p:cNvPr id="325" name="Google Shape;325;g3fae999c044_0_502"/>
          <p:cNvSpPr/>
          <p:nvPr/>
        </p:nvSpPr>
        <p:spPr>
          <a:xfrm>
            <a:off x="2926198" y="2048010"/>
            <a:ext cx="1764300" cy="50400"/>
          </a:xfrm>
          <a:prstGeom prst="rect">
            <a:avLst/>
          </a:prstGeom>
          <a:solidFill>
            <a:srgbClr val="A259FF"/>
          </a:solidFill>
          <a:ln cap="flat" cmpd="sng" w="11675">
            <a:solidFill>
              <a:srgbClr val="A25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ae999c044_0_502"/>
          <p:cNvSpPr/>
          <p:nvPr/>
        </p:nvSpPr>
        <p:spPr>
          <a:xfrm>
            <a:off x="3060607" y="2199220"/>
            <a:ext cx="294300" cy="234900"/>
          </a:xfrm>
          <a:prstGeom prst="rect">
            <a:avLst/>
          </a:prstGeom>
          <a:solidFill>
            <a:srgbClr val="A259FF">
              <a:alpha val="18040"/>
            </a:srgbClr>
          </a:solidFill>
          <a:ln cap="flat" cmpd="sng" w="11675">
            <a:solidFill>
              <a:srgbClr val="A25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ae999c044_0_502"/>
          <p:cNvSpPr/>
          <p:nvPr/>
        </p:nvSpPr>
        <p:spPr>
          <a:xfrm>
            <a:off x="3060607" y="2199220"/>
            <a:ext cx="29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59FF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A259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ae999c044_0_502"/>
          <p:cNvSpPr/>
          <p:nvPr/>
        </p:nvSpPr>
        <p:spPr>
          <a:xfrm>
            <a:off x="3043806" y="2762058"/>
            <a:ext cx="15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專案說明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9" name="Google Shape;329;g3fae999c044_0_502"/>
          <p:cNvCxnSpPr/>
          <p:nvPr/>
        </p:nvCxnSpPr>
        <p:spPr>
          <a:xfrm>
            <a:off x="3043806" y="3257690"/>
            <a:ext cx="1528800" cy="0"/>
          </a:xfrm>
          <a:prstGeom prst="straightConnector1">
            <a:avLst/>
          </a:prstGeom>
          <a:noFill/>
          <a:ln cap="flat" cmpd="sng" w="11675">
            <a:solidFill>
              <a:srgbClr val="2A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g3fae999c044_0_502"/>
          <p:cNvSpPr/>
          <p:nvPr/>
        </p:nvSpPr>
        <p:spPr>
          <a:xfrm>
            <a:off x="3043806" y="3358497"/>
            <a:ext cx="15288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rPr b="1" lang="en" sz="1200">
                <a:solidFill>
                  <a:srgbClr val="AAAACC"/>
                </a:solidFill>
                <a:latin typeface="Open Sans"/>
                <a:ea typeface="Open Sans"/>
                <a:cs typeface="Open Sans"/>
                <a:sym typeface="Open Sans"/>
              </a:rPr>
              <a:t>以文字說明問題、解決方案、所對應的開發方向，以及 Codex 的應用方式</a:t>
            </a:r>
            <a:endParaRPr b="1" sz="1200">
              <a:solidFill>
                <a:srgbClr val="AAAAC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t/>
            </a:r>
            <a:endParaRPr sz="827">
              <a:solidFill>
                <a:srgbClr val="AAAA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g3fae999c044_0_502"/>
          <p:cNvSpPr/>
          <p:nvPr/>
        </p:nvSpPr>
        <p:spPr>
          <a:xfrm>
            <a:off x="4917122" y="2048010"/>
            <a:ext cx="1764300" cy="2688300"/>
          </a:xfrm>
          <a:prstGeom prst="rect">
            <a:avLst/>
          </a:prstGeom>
          <a:solidFill>
            <a:srgbClr val="13131F"/>
          </a:solidFill>
          <a:ln cap="flat" cmpd="sng" w="11675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16674" rotWithShape="0" algn="bl" dir="8100000" dist="35002">
              <a:srgbClr val="000000">
                <a:alpha val="45100"/>
              </a:srgbClr>
            </a:outerShdw>
          </a:effectLst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ae999c044_0_502"/>
          <p:cNvSpPr/>
          <p:nvPr/>
        </p:nvSpPr>
        <p:spPr>
          <a:xfrm>
            <a:off x="4917122" y="2048010"/>
            <a:ext cx="1764300" cy="50400"/>
          </a:xfrm>
          <a:prstGeom prst="rect">
            <a:avLst/>
          </a:prstGeom>
          <a:solidFill>
            <a:srgbClr val="00E5A0"/>
          </a:solidFill>
          <a:ln cap="flat" cmpd="sng" w="1167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fae999c044_0_502"/>
          <p:cNvSpPr/>
          <p:nvPr/>
        </p:nvSpPr>
        <p:spPr>
          <a:xfrm>
            <a:off x="5051530" y="2199220"/>
            <a:ext cx="294300" cy="234900"/>
          </a:xfrm>
          <a:prstGeom prst="rect">
            <a:avLst/>
          </a:prstGeom>
          <a:solidFill>
            <a:srgbClr val="00E5A0">
              <a:alpha val="18040"/>
            </a:srgbClr>
          </a:solidFill>
          <a:ln cap="flat" cmpd="sng" w="1167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ae999c044_0_502"/>
          <p:cNvSpPr/>
          <p:nvPr/>
        </p:nvSpPr>
        <p:spPr>
          <a:xfrm>
            <a:off x="5051530" y="2199220"/>
            <a:ext cx="29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00E5A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fae999c044_0_502"/>
          <p:cNvSpPr/>
          <p:nvPr/>
        </p:nvSpPr>
        <p:spPr>
          <a:xfrm>
            <a:off x="5034729" y="2762058"/>
            <a:ext cx="15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Arial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 </a:t>
            </a: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連結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36" name="Google Shape;336;g3fae999c044_0_502"/>
          <p:cNvCxnSpPr/>
          <p:nvPr/>
        </p:nvCxnSpPr>
        <p:spPr>
          <a:xfrm>
            <a:off x="5034729" y="3257690"/>
            <a:ext cx="1528800" cy="0"/>
          </a:xfrm>
          <a:prstGeom prst="straightConnector1">
            <a:avLst/>
          </a:prstGeom>
          <a:noFill/>
          <a:ln cap="flat" cmpd="sng" w="11675">
            <a:solidFill>
              <a:srgbClr val="2A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g3fae999c044_0_502"/>
          <p:cNvSpPr/>
          <p:nvPr/>
        </p:nvSpPr>
        <p:spPr>
          <a:xfrm>
            <a:off x="5034729" y="3358497"/>
            <a:ext cx="15288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rPr b="1" lang="en" sz="1200">
                <a:solidFill>
                  <a:srgbClr val="AAAACC"/>
                </a:solidFill>
                <a:latin typeface="Open Sans"/>
                <a:ea typeface="Open Sans"/>
                <a:cs typeface="Open Sans"/>
                <a:sym typeface="Open Sans"/>
              </a:rPr>
              <a:t>現場展示或原型連結（選填）</a:t>
            </a:r>
            <a:endParaRPr b="1" sz="1200">
              <a:solidFill>
                <a:srgbClr val="AAAAC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t/>
            </a:r>
            <a:endParaRPr sz="827">
              <a:solidFill>
                <a:srgbClr val="AAAA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g3fae999c044_0_502"/>
          <p:cNvSpPr/>
          <p:nvPr/>
        </p:nvSpPr>
        <p:spPr>
          <a:xfrm>
            <a:off x="6908045" y="2048010"/>
            <a:ext cx="1764300" cy="2688300"/>
          </a:xfrm>
          <a:prstGeom prst="rect">
            <a:avLst/>
          </a:prstGeom>
          <a:solidFill>
            <a:srgbClr val="13131F"/>
          </a:solidFill>
          <a:ln cap="flat" cmpd="sng" w="11675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  <a:effectLst>
            <a:outerShdw blurRad="116674" rotWithShape="0" algn="bl" dir="8100000" dist="35002">
              <a:srgbClr val="000000">
                <a:alpha val="45100"/>
              </a:srgbClr>
            </a:outerShdw>
          </a:effectLst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ae999c044_0_502"/>
          <p:cNvSpPr/>
          <p:nvPr/>
        </p:nvSpPr>
        <p:spPr>
          <a:xfrm>
            <a:off x="6908045" y="2048010"/>
            <a:ext cx="1764300" cy="50400"/>
          </a:xfrm>
          <a:prstGeom prst="rect">
            <a:avLst/>
          </a:prstGeom>
          <a:solidFill>
            <a:srgbClr val="FFB830"/>
          </a:solidFill>
          <a:ln cap="flat" cmpd="sng" w="11675">
            <a:solidFill>
              <a:srgbClr val="FFB8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fae999c044_0_502"/>
          <p:cNvSpPr/>
          <p:nvPr/>
        </p:nvSpPr>
        <p:spPr>
          <a:xfrm>
            <a:off x="7042454" y="2199220"/>
            <a:ext cx="294300" cy="234900"/>
          </a:xfrm>
          <a:prstGeom prst="rect">
            <a:avLst/>
          </a:prstGeom>
          <a:solidFill>
            <a:srgbClr val="FFB830">
              <a:alpha val="18040"/>
            </a:srgbClr>
          </a:solidFill>
          <a:ln cap="flat" cmpd="sng" w="11675">
            <a:solidFill>
              <a:srgbClr val="FFB8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ae999c044_0_502"/>
          <p:cNvSpPr/>
          <p:nvPr/>
        </p:nvSpPr>
        <p:spPr>
          <a:xfrm>
            <a:off x="7042454" y="2199220"/>
            <a:ext cx="2943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830"/>
              </a:buClr>
              <a:buSzPts val="827"/>
              <a:buFont typeface="Arial"/>
              <a:buNone/>
            </a:pPr>
            <a:r>
              <a:rPr b="1" i="0" lang="en" sz="827" u="none" cap="none" strike="noStrike">
                <a:solidFill>
                  <a:srgbClr val="FFB83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2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ae999c044_0_502"/>
          <p:cNvSpPr/>
          <p:nvPr/>
        </p:nvSpPr>
        <p:spPr>
          <a:xfrm>
            <a:off x="7025653" y="2762058"/>
            <a:ext cx="152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特殊說明事項</a:t>
            </a:r>
            <a:endParaRPr i="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3" name="Google Shape;343;g3fae999c044_0_502"/>
          <p:cNvCxnSpPr/>
          <p:nvPr/>
        </p:nvCxnSpPr>
        <p:spPr>
          <a:xfrm>
            <a:off x="7025653" y="3257690"/>
            <a:ext cx="1528800" cy="0"/>
          </a:xfrm>
          <a:prstGeom prst="straightConnector1">
            <a:avLst/>
          </a:prstGeom>
          <a:noFill/>
          <a:ln cap="flat" cmpd="sng" w="11675">
            <a:solidFill>
              <a:srgbClr val="2A2A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g3fae999c044_0_502"/>
          <p:cNvSpPr/>
          <p:nvPr/>
        </p:nvSpPr>
        <p:spPr>
          <a:xfrm>
            <a:off x="7025953" y="3358497"/>
            <a:ext cx="15288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975" lIns="84000" spcFirstLastPara="1" rIns="84000" wrap="square" tIns="41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27"/>
              <a:buFont typeface="Arial"/>
              <a:buNone/>
            </a:pPr>
            <a:r>
              <a:rPr b="1" lang="en" sz="1200">
                <a:solidFill>
                  <a:srgbClr val="AAAACC"/>
                </a:solidFill>
                <a:latin typeface="Open Sans"/>
                <a:ea typeface="Open Sans"/>
                <a:cs typeface="Open Sans"/>
                <a:sym typeface="Open Sans"/>
              </a:rPr>
              <a:t>說明所使用的既有開源軟體（OSS）／個人專案，以及本次黑客松期間完成的開發內容</a:t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g3fae999c044_0_502"/>
          <p:cNvSpPr/>
          <p:nvPr/>
        </p:nvSpPr>
        <p:spPr>
          <a:xfrm>
            <a:off x="935275" y="1417975"/>
            <a:ext cx="77370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75" lIns="84000" spcFirstLastPara="1" rIns="84000" wrap="square" tIns="41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4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每組團隊須於下午 5:35 前透過 Google 表單提交一份作品。</a:t>
            </a: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逾期提交將影響晉級資格。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g3fae999c044_0_5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ae999c044_0_579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ae999c044_0_579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評選流程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g3fae999c044_0_579"/>
          <p:cNvSpPr/>
          <p:nvPr/>
        </p:nvSpPr>
        <p:spPr>
          <a:xfrm>
            <a:off x="786000" y="1474325"/>
            <a:ext cx="7770900" cy="3051000"/>
          </a:xfrm>
          <a:prstGeom prst="rect">
            <a:avLst/>
          </a:prstGeom>
          <a:solidFill>
            <a:srgbClr val="0A1221"/>
          </a:solidFill>
          <a:ln cap="flat" cmpd="sng" w="927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50" lIns="89150" spcFirstLastPara="1" rIns="89150" wrap="square" tIns="8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ae999c044_0_579"/>
          <p:cNvSpPr/>
          <p:nvPr/>
        </p:nvSpPr>
        <p:spPr>
          <a:xfrm>
            <a:off x="962113" y="1575826"/>
            <a:ext cx="3529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eorgia"/>
              <a:buNone/>
            </a:pPr>
            <a:r>
              <a:rPr b="1" lang="en" sz="1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第一輪評選</a:t>
            </a:r>
            <a:endParaRPr i="0" sz="175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5" name="Google Shape;355;g3fae999c044_0_579"/>
          <p:cNvCxnSpPr/>
          <p:nvPr/>
        </p:nvCxnSpPr>
        <p:spPr>
          <a:xfrm>
            <a:off x="953563" y="1964784"/>
            <a:ext cx="3546900" cy="0"/>
          </a:xfrm>
          <a:prstGeom prst="straightConnector1">
            <a:avLst/>
          </a:prstGeom>
          <a:noFill/>
          <a:ln cap="flat" cmpd="sng" w="927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fae999c044_0_579"/>
          <p:cNvSpPr/>
          <p:nvPr/>
        </p:nvSpPr>
        <p:spPr>
          <a:xfrm>
            <a:off x="953575" y="2138648"/>
            <a:ext cx="35298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比賽場地：各會議室 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b="1" sz="10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所有參賽隊伍將分配至指定會議室，並向安排的評審組合發表。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g3fae999c044_0_579"/>
          <p:cNvSpPr/>
          <p:nvPr/>
        </p:nvSpPr>
        <p:spPr>
          <a:xfrm>
            <a:off x="932563" y="4092510"/>
            <a:ext cx="3529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31"/>
              <a:buFont typeface="Calibri"/>
              <a:buNone/>
            </a:pPr>
            <a:r>
              <a:rPr b="1" lang="en" sz="1800">
                <a:solidFill>
                  <a:srgbClr val="3872C9"/>
                </a:solidFill>
                <a:latin typeface="Open Sans"/>
                <a:ea typeface="Open Sans"/>
                <a:cs typeface="Open Sans"/>
                <a:sym typeface="Open Sans"/>
              </a:rPr>
              <a:t>前 5 名隊伍晉級第二輪</a:t>
            </a:r>
            <a:endParaRPr i="0" sz="1800" u="none" cap="none" strike="noStrike">
              <a:solidFill>
                <a:srgbClr val="3872C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g3fae999c044_0_579"/>
          <p:cNvSpPr/>
          <p:nvPr/>
        </p:nvSpPr>
        <p:spPr>
          <a:xfrm>
            <a:off x="786003" y="1474323"/>
            <a:ext cx="62400" cy="2425200"/>
          </a:xfrm>
          <a:prstGeom prst="rect">
            <a:avLst/>
          </a:prstGeom>
          <a:solidFill>
            <a:srgbClr val="3872C9"/>
          </a:solidFill>
          <a:ln cap="flat" cmpd="sng" w="12275">
            <a:solidFill>
              <a:srgbClr val="387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ae999c044_0_5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g3fae999c044_0_579"/>
          <p:cNvSpPr/>
          <p:nvPr/>
        </p:nvSpPr>
        <p:spPr>
          <a:xfrm>
            <a:off x="932574" y="2977075"/>
            <a:ext cx="1795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5"/>
              <a:buFont typeface="Calibri"/>
              <a:buNone/>
            </a:pP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 </a:t>
            </a:r>
            <a:r>
              <a:rPr b="1" lang="en" sz="17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分鐘</a:t>
            </a: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" sz="1200">
                <a:solidFill>
                  <a:srgbClr val="6A8BA8"/>
                </a:solidFill>
                <a:latin typeface="Open Sans"/>
                <a:ea typeface="Open Sans"/>
                <a:cs typeface="Open Sans"/>
                <a:sym typeface="Open Sans"/>
              </a:rPr>
              <a:t>Demo / 簡報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g3fae999c044_0_579"/>
          <p:cNvSpPr/>
          <p:nvPr/>
        </p:nvSpPr>
        <p:spPr>
          <a:xfrm>
            <a:off x="2776376" y="2979775"/>
            <a:ext cx="17451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5"/>
              <a:buFont typeface="Calibri"/>
              <a:buNone/>
            </a:pP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2 </a:t>
            </a:r>
            <a:r>
              <a:rPr b="1" lang="en" sz="175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分鐘</a:t>
            </a: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i="0" lang="en" sz="1200" u="none" cap="none" strike="noStrike">
                <a:solidFill>
                  <a:srgbClr val="6A8BA8"/>
                </a:solidFill>
                <a:latin typeface="Open Sans"/>
                <a:ea typeface="Open Sans"/>
                <a:cs typeface="Open Sans"/>
                <a:sym typeface="Open Sans"/>
              </a:rPr>
              <a:t>Q&amp;A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2" name="Google Shape;362;g3fae999c044_0_579"/>
          <p:cNvSpPr/>
          <p:nvPr/>
        </p:nvSpPr>
        <p:spPr>
          <a:xfrm>
            <a:off x="4610325" y="2138650"/>
            <a:ext cx="37200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發表環節 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b="1" sz="10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5 分 30 秒：舉牌提醒「剩餘 30 秒」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6 分 00 秒：舉牌提醒「發表結束，立即進入 Q&amp;A」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g3fae999c044_0_579"/>
          <p:cNvSpPr/>
          <p:nvPr/>
        </p:nvSpPr>
        <p:spPr>
          <a:xfrm>
            <a:off x="4610325" y="3090425"/>
            <a:ext cx="42165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Q&amp;A 環節 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b="1" sz="10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1 分 30 秒：舉牌提醒「剩餘 30 秒」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2 分 00 秒：舉牌提醒「QA 問答結束，請選手準備離場」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409bec20cff_0_142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409bec20cff_0_142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評選流程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g409bec20cff_0_142"/>
          <p:cNvSpPr/>
          <p:nvPr/>
        </p:nvSpPr>
        <p:spPr>
          <a:xfrm>
            <a:off x="786000" y="1474325"/>
            <a:ext cx="7770900" cy="3051000"/>
          </a:xfrm>
          <a:prstGeom prst="rect">
            <a:avLst/>
          </a:prstGeom>
          <a:solidFill>
            <a:srgbClr val="0A1221"/>
          </a:solidFill>
          <a:ln cap="flat" cmpd="sng" w="927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150" lIns="89150" spcFirstLastPara="1" rIns="89150" wrap="square" tIns="8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409bec20cff_0_142"/>
          <p:cNvSpPr/>
          <p:nvPr/>
        </p:nvSpPr>
        <p:spPr>
          <a:xfrm>
            <a:off x="962113" y="1575826"/>
            <a:ext cx="3529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Georgia"/>
              <a:buNone/>
            </a:pPr>
            <a:r>
              <a:rPr b="1" lang="en" sz="1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第二輪評選</a:t>
            </a:r>
            <a:endParaRPr i="0" sz="175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2" name="Google Shape;372;g409bec20cff_0_142"/>
          <p:cNvCxnSpPr/>
          <p:nvPr/>
        </p:nvCxnSpPr>
        <p:spPr>
          <a:xfrm>
            <a:off x="953563" y="1964784"/>
            <a:ext cx="3546900" cy="0"/>
          </a:xfrm>
          <a:prstGeom prst="straightConnector1">
            <a:avLst/>
          </a:prstGeom>
          <a:noFill/>
          <a:ln cap="flat" cmpd="sng" w="9275">
            <a:solidFill>
              <a:srgbClr val="1A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g409bec20cff_0_142"/>
          <p:cNvSpPr/>
          <p:nvPr/>
        </p:nvSpPr>
        <p:spPr>
          <a:xfrm>
            <a:off x="953575" y="2138648"/>
            <a:ext cx="35298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550" lIns="89150" spcFirstLastPara="1" rIns="89150" wrap="square" tIns="4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3"/>
              <a:buFont typeface="Calibri"/>
              <a:buNone/>
            </a:pPr>
            <a:r>
              <a:rPr b="1"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比賽場地：主舞台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br>
              <a:rPr lang="en" sz="975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第一輪評選前 5 名參賽隊伍於主舞台上台發表，並由全體參賽者及最終評審團現場觀摩。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g409bec20cff_0_142"/>
          <p:cNvSpPr/>
          <p:nvPr/>
        </p:nvSpPr>
        <p:spPr>
          <a:xfrm>
            <a:off x="932563" y="4092510"/>
            <a:ext cx="3529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31"/>
              <a:buFont typeface="Calibri"/>
              <a:buNone/>
            </a:pPr>
            <a:r>
              <a:rPr b="1" lang="en" sz="1800">
                <a:solidFill>
                  <a:srgbClr val="3872C9"/>
                </a:solidFill>
                <a:latin typeface="Open Sans"/>
                <a:ea typeface="Open Sans"/>
                <a:cs typeface="Open Sans"/>
                <a:sym typeface="Open Sans"/>
              </a:rPr>
              <a:t>本輪結束後公布前 3 名</a:t>
            </a:r>
            <a:endParaRPr i="0" sz="1800" u="none" cap="none" strike="noStrike">
              <a:solidFill>
                <a:srgbClr val="3872C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g409bec20cff_0_142"/>
          <p:cNvSpPr/>
          <p:nvPr/>
        </p:nvSpPr>
        <p:spPr>
          <a:xfrm>
            <a:off x="786003" y="1474323"/>
            <a:ext cx="62400" cy="2425200"/>
          </a:xfrm>
          <a:prstGeom prst="rect">
            <a:avLst/>
          </a:prstGeom>
          <a:solidFill>
            <a:srgbClr val="3872C9"/>
          </a:solidFill>
          <a:ln cap="flat" cmpd="sng" w="12275">
            <a:solidFill>
              <a:srgbClr val="3872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75" lIns="88375" spcFirstLastPara="1" rIns="88375" wrap="square" tIns="8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409bec20cff_0_1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g409bec20cff_0_142"/>
          <p:cNvSpPr/>
          <p:nvPr/>
        </p:nvSpPr>
        <p:spPr>
          <a:xfrm>
            <a:off x="932574" y="2977075"/>
            <a:ext cx="17955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5"/>
              <a:buFont typeface="Calibri"/>
              <a:buNone/>
            </a:pP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 </a:t>
            </a:r>
            <a:r>
              <a:rPr b="1" lang="en" sz="17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分鐘</a:t>
            </a: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" sz="1200">
                <a:solidFill>
                  <a:srgbClr val="6A8BA8"/>
                </a:solidFill>
                <a:latin typeface="Open Sans"/>
                <a:ea typeface="Open Sans"/>
                <a:cs typeface="Open Sans"/>
                <a:sym typeface="Open Sans"/>
              </a:rPr>
              <a:t>Demo / 簡報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g409bec20cff_0_142"/>
          <p:cNvSpPr/>
          <p:nvPr/>
        </p:nvSpPr>
        <p:spPr>
          <a:xfrm>
            <a:off x="2776376" y="2979775"/>
            <a:ext cx="1745100" cy="6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5"/>
              <a:buFont typeface="Calibri"/>
              <a:buNone/>
            </a:pPr>
            <a:r>
              <a:rPr b="1" lang="en" sz="17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 </a:t>
            </a:r>
            <a:r>
              <a:rPr b="1" lang="en" sz="175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分鐘</a:t>
            </a:r>
            <a:r>
              <a:rPr b="1" i="0" lang="en" sz="17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i="0" lang="en" sz="1200" u="none" cap="none" strike="noStrike">
                <a:solidFill>
                  <a:srgbClr val="6A8BA8"/>
                </a:solidFill>
                <a:latin typeface="Open Sans"/>
                <a:ea typeface="Open Sans"/>
                <a:cs typeface="Open Sans"/>
                <a:sym typeface="Open Sans"/>
              </a:rPr>
              <a:t>Q&amp;A</a:t>
            </a:r>
            <a:endParaRPr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g409bec20cff_0_142"/>
          <p:cNvSpPr/>
          <p:nvPr/>
        </p:nvSpPr>
        <p:spPr>
          <a:xfrm>
            <a:off x="4610325" y="2176014"/>
            <a:ext cx="41334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發表環節</a:t>
            </a:r>
            <a:b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5 分 00 秒：按鈴 1 響提醒</a:t>
            </a:r>
            <a:endParaRPr b="1" sz="10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5 分 30 秒：按鈴 2 響提醒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6 分 00 秒：按鈴 3 響提醒，請盡快結束簡報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g409bec20cff_0_142"/>
          <p:cNvSpPr/>
          <p:nvPr/>
        </p:nvSpPr>
        <p:spPr>
          <a:xfrm>
            <a:off x="4610325" y="3447938"/>
            <a:ext cx="36813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550" lIns="89150" spcFirstLastPara="1" rIns="89150" wrap="square" tIns="44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Q&amp;A 環節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b="1" sz="107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2 分 30 秒：按鈴 2 響提醒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rPr b="1" lang="en" sz="1200">
                <a:solidFill>
                  <a:srgbClr val="7A90A8"/>
                </a:solidFill>
                <a:latin typeface="Open Sans"/>
                <a:ea typeface="Open Sans"/>
                <a:cs typeface="Open Sans"/>
                <a:sym typeface="Open Sans"/>
              </a:rPr>
              <a:t>3 分 00 秒：按鈴 3 響提醒，請盡快結束問答</a:t>
            </a:r>
            <a:endParaRPr b="1"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3"/>
              <a:buFont typeface="Calibri"/>
              <a:buNone/>
            </a:pPr>
            <a:r>
              <a:t/>
            </a:r>
            <a:endParaRPr sz="1200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0A8"/>
              </a:buClr>
              <a:buSzPts val="975"/>
              <a:buFont typeface="Calibri"/>
              <a:buNone/>
            </a:pPr>
            <a:r>
              <a:t/>
            </a:r>
            <a:endParaRPr sz="975">
              <a:solidFill>
                <a:srgbClr val="7A90A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ae999c044_0_693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fae999c044_0_693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需要協助嗎？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g3fae999c044_0_693"/>
          <p:cNvSpPr/>
          <p:nvPr/>
        </p:nvSpPr>
        <p:spPr>
          <a:xfrm>
            <a:off x="2357850" y="1931575"/>
            <a:ext cx="4428300" cy="1627500"/>
          </a:xfrm>
          <a:prstGeom prst="rect">
            <a:avLst/>
          </a:prstGeom>
          <a:solidFill>
            <a:srgbClr val="0D1525"/>
          </a:solidFill>
          <a:ln cap="flat" cmpd="sng" w="12700">
            <a:solidFill>
              <a:srgbClr val="1A2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ae999c044_0_693"/>
          <p:cNvSpPr/>
          <p:nvPr/>
        </p:nvSpPr>
        <p:spPr>
          <a:xfrm>
            <a:off x="2357845" y="1931575"/>
            <a:ext cx="1371600" cy="54900"/>
          </a:xfrm>
          <a:prstGeom prst="rect">
            <a:avLst/>
          </a:prstGeom>
          <a:solidFill>
            <a:srgbClr val="4488FF"/>
          </a:solidFill>
          <a:ln cap="flat" cmpd="sng" w="12700">
            <a:solidFill>
              <a:srgbClr val="448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ae999c044_0_693"/>
          <p:cNvSpPr/>
          <p:nvPr/>
        </p:nvSpPr>
        <p:spPr>
          <a:xfrm>
            <a:off x="2520175" y="2493935"/>
            <a:ext cx="502800" cy="502800"/>
          </a:xfrm>
          <a:prstGeom prst="ellipse">
            <a:avLst/>
          </a:prstGeom>
          <a:solidFill>
            <a:srgbClr val="0D1A35"/>
          </a:solidFill>
          <a:ln cap="flat" cmpd="sng" w="19050">
            <a:solidFill>
              <a:srgbClr val="448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0" name="Google Shape;390;g3fae999c044_0_6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3327" y="2557943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fae999c044_0_693"/>
          <p:cNvSpPr/>
          <p:nvPr/>
        </p:nvSpPr>
        <p:spPr>
          <a:xfrm>
            <a:off x="3140200" y="2448175"/>
            <a:ext cx="338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有需要協助時，歡迎至面向舞台之左側 IT 諮詢處找工作人員！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ae999c044_0_6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ae999c044_0_745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fae999c044_0_745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作品提交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g3fae999c044_0_745"/>
          <p:cNvSpPr txBox="1"/>
          <p:nvPr/>
        </p:nvSpPr>
        <p:spPr>
          <a:xfrm>
            <a:off x="4510950" y="1798600"/>
            <a:ext cx="3410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請於下午 5:35 前提交：</a:t>
            </a:r>
            <a:endParaRPr b="1"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AutoNum type="arabicParenR"/>
            </a:pPr>
            <a:r>
              <a:rPr lang="en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公開 GitHub 儲存庫</a:t>
            </a: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AutoNum type="arabicParenR"/>
            </a:pPr>
            <a:r>
              <a:rPr lang="en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專案說明</a:t>
            </a: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AutoNum type="arabicParenR"/>
            </a:pPr>
            <a:r>
              <a:rPr lang="en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Demo 連結 (選填)</a:t>
            </a: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AutoNum type="arabicParenR"/>
            </a:pPr>
            <a:r>
              <a:rPr lang="en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特殊說明事項</a:t>
            </a: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00" name="Google Shape;400;g3fae999c044_0_7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50" y="1548700"/>
            <a:ext cx="3248800" cy="32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fae999c044_0_7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9f88532cb_4_150"/>
          <p:cNvSpPr/>
          <p:nvPr/>
        </p:nvSpPr>
        <p:spPr>
          <a:xfrm>
            <a:off x="1809000" y="902900"/>
            <a:ext cx="5526000" cy="46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9f88532cb_4_150"/>
          <p:cNvSpPr txBox="1"/>
          <p:nvPr/>
        </p:nvSpPr>
        <p:spPr>
          <a:xfrm>
            <a:off x="1677463" y="8108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第一輪評選分組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408" name="Google Shape;408;g3f9f88532cb_4_150"/>
          <p:cNvGraphicFramePr/>
          <p:nvPr/>
        </p:nvGraphicFramePr>
        <p:xfrm>
          <a:off x="443413" y="157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{A2BAD091-134E-45A1-8E60-73AEFD6A479E}</a:tableStyleId>
              </a:tblPr>
              <a:tblGrid>
                <a:gridCol w="767650"/>
                <a:gridCol w="1109000"/>
                <a:gridCol w="1050075"/>
                <a:gridCol w="1036225"/>
                <a:gridCol w="1070250"/>
                <a:gridCol w="1031575"/>
                <a:gridCol w="1022250"/>
                <a:gridCol w="1170150"/>
              </a:tblGrid>
              <a:tr h="83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會議室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Room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extLst>
                            <a:ext uri="http://customooxmlschemas.google.com/">
                              <go:slidesCustomData xmlns:go="http://customooxmlschemas.google.com/" textRoundtripDataId="5"/>
                            </a:ext>
                          </a:extLst>
                        </a:rPr>
                        <a:t>評審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Judges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第一批次 R1</a:t>
                      </a:r>
                      <a:b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1" lang="en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(17:40)</a:t>
                      </a:r>
                      <a:endParaRPr b="1" sz="10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3E7CD8">
                        <a:alpha val="443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第二批次 R2</a:t>
                      </a:r>
                      <a:b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1" lang="en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(17:45)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3E7CD8">
                        <a:alpha val="443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第三批次 R3</a:t>
                      </a:r>
                      <a:b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1" lang="en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(17:55)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3E7CD8">
                        <a:alpha val="443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第四批次 R4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(18:05)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7CD8">
                        <a:alpha val="443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第五批次 R5</a:t>
                      </a:r>
                      <a:b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1" lang="en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(18:15)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7CD8">
                        <a:alpha val="443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第六批次 R6</a:t>
                      </a:r>
                      <a:br>
                        <a:rPr b="1"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b="1" lang="en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(18:25)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7CD8">
                        <a:alpha val="443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202A室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Bill, David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202B室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Vincent, Cherrie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27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203A室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Koi</a:t>
                      </a:r>
                      <a:r>
                        <a:rPr b="1" lang="en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Vicki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103室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Ian</a:t>
                      </a:r>
                      <a:r>
                        <a:rPr b="1" lang="en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Chris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29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106室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Harry</a:t>
                      </a:r>
                      <a:r>
                        <a:rPr b="1" lang="en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b="1" lang="en" sz="11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Kelvin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9" name="Google Shape;409;g3f9f88532cb_4_1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ae999c044_0_842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ae999c044_0_842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第二</a:t>
            </a: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輪評</a:t>
            </a: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審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6" name="Google Shape;416;g3fae999c044_0_842" title="SeaTalk_IMG_20260825_17191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5050" y="1559929"/>
            <a:ext cx="2103300" cy="210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7" name="Google Shape;417;g3fae999c044_0_842"/>
          <p:cNvSpPr txBox="1"/>
          <p:nvPr/>
        </p:nvSpPr>
        <p:spPr>
          <a:xfrm>
            <a:off x="6195050" y="3724711"/>
            <a:ext cx="21033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700" lIns="146700" spcFirstLastPara="1" rIns="146700" wrap="square" tIns="146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Jon Sugihara</a:t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亞太區技術執行總監</a:t>
            </a:r>
            <a:endParaRPr sz="1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OpenAI</a:t>
            </a:r>
            <a:endParaRPr sz="1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8" name="Google Shape;418;g3fae999c044_0_842" title="jqxndj10.wlx.jpg"/>
          <p:cNvPicPr preferRelativeResize="0"/>
          <p:nvPr/>
        </p:nvPicPr>
        <p:blipFill rotWithShape="1">
          <a:blip r:embed="rId4">
            <a:alphaModFix/>
          </a:blip>
          <a:srcRect b="30215" l="8820" r="7259" t="8235"/>
          <a:stretch/>
        </p:blipFill>
        <p:spPr>
          <a:xfrm>
            <a:off x="3499525" y="1595879"/>
            <a:ext cx="2103300" cy="2103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9" name="Google Shape;419;g3fae999c044_0_842" title="SeaTalk_IMG_20260820_140538.png"/>
          <p:cNvPicPr preferRelativeResize="0"/>
          <p:nvPr/>
        </p:nvPicPr>
        <p:blipFill rotWithShape="1">
          <a:blip r:embed="rId5">
            <a:alphaModFix/>
          </a:blip>
          <a:srcRect b="41281" l="28966" r="36152" t="6305"/>
          <a:stretch/>
        </p:blipFill>
        <p:spPr>
          <a:xfrm>
            <a:off x="804000" y="1559929"/>
            <a:ext cx="2103300" cy="210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0" name="Google Shape;420;g3fae999c044_0_842"/>
          <p:cNvSpPr txBox="1"/>
          <p:nvPr/>
        </p:nvSpPr>
        <p:spPr>
          <a:xfrm>
            <a:off x="3403500" y="3724711"/>
            <a:ext cx="23370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700" lIns="146700" spcFirstLastPara="1" rIns="146700" wrap="square" tIns="146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林俊秀</a:t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數位發展部數位產業署署長</a:t>
            </a:r>
            <a:endParaRPr sz="1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1" name="Google Shape;421;g3fae999c044_0_842"/>
          <p:cNvSpPr txBox="1"/>
          <p:nvPr/>
        </p:nvSpPr>
        <p:spPr>
          <a:xfrm>
            <a:off x="687150" y="3663236"/>
            <a:ext cx="23370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700" lIns="146700" spcFirstLastPara="1" rIns="146700" wrap="square" tIns="146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Lee Chon Cheng</a:t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COO Office 總監</a:t>
            </a:r>
            <a:endParaRPr sz="1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Sea</a:t>
            </a:r>
            <a:endParaRPr sz="1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2" name="Google Shape;422;g3fae999c044_0_8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ae999c044_0_9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g3fae999c044_0_943"/>
          <p:cNvSpPr txBox="1"/>
          <p:nvPr/>
        </p:nvSpPr>
        <p:spPr>
          <a:xfrm>
            <a:off x="2299716" y="2147284"/>
            <a:ext cx="578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恭喜完成開發！</a:t>
            </a:r>
            <a:endParaRPr b="1" i="0" sz="4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ae999c044_0_994"/>
          <p:cNvSpPr/>
          <p:nvPr/>
        </p:nvSpPr>
        <p:spPr>
          <a:xfrm>
            <a:off x="1809000" y="788000"/>
            <a:ext cx="5526000" cy="508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ae999c044_0_994"/>
          <p:cNvSpPr txBox="1"/>
          <p:nvPr/>
        </p:nvSpPr>
        <p:spPr>
          <a:xfrm>
            <a:off x="1677450" y="719009"/>
            <a:ext cx="578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回饋表單</a:t>
            </a:r>
            <a:endParaRPr b="1" sz="3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35" name="Google Shape;435;g3fae999c044_0_994" title="qrcod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6625" y="1453060"/>
            <a:ext cx="3390750" cy="33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fae999c044_0_9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